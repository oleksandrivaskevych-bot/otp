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Arimo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Geologica SemiBold"/>
      <p:regular r:id="rId36"/>
      <p:bold r:id="rId37"/>
    </p:embeddedFont>
    <p:embeddedFont>
      <p:font typeface="Geologica"/>
      <p:regular r:id="rId38"/>
      <p:bold r:id="rId39"/>
    </p:embeddedFont>
    <p:embeddedFont>
      <p:font typeface="Montserrat ExtraBold"/>
      <p:bold r:id="rId40"/>
      <p:boldItalic r:id="rId41"/>
    </p:embeddedFont>
    <p:embeddedFont>
      <p:font typeface="Unbounde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E679B0-DD89-435B-87A1-20EA3FF29BAF}">
  <a:tblStyle styleId="{9FE679B0-DD89-435B-87A1-20EA3FF29BA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ExtraBold-bold.fntdata"/><Relationship Id="rId20" Type="http://schemas.openxmlformats.org/officeDocument/2006/relationships/slide" Target="slides/slide14.xml"/><Relationship Id="rId42" Type="http://schemas.openxmlformats.org/officeDocument/2006/relationships/font" Target="fonts/Unbounded-regular.fntdata"/><Relationship Id="rId41" Type="http://schemas.openxmlformats.org/officeDocument/2006/relationships/font" Target="fonts/MontserratExtraBold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Unbounded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Arim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-boldItalic.fntdata"/><Relationship Id="rId30" Type="http://schemas.openxmlformats.org/officeDocument/2006/relationships/font" Target="fonts/Arimo-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9.xml"/><Relationship Id="rId37" Type="http://schemas.openxmlformats.org/officeDocument/2006/relationships/font" Target="fonts/GeologicaSemiBold-bold.fntdata"/><Relationship Id="rId14" Type="http://schemas.openxmlformats.org/officeDocument/2006/relationships/slide" Target="slides/slide8.xml"/><Relationship Id="rId36" Type="http://schemas.openxmlformats.org/officeDocument/2006/relationships/font" Target="fonts/Geologica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Geologica-bold.fntdata"/><Relationship Id="rId16" Type="http://schemas.openxmlformats.org/officeDocument/2006/relationships/slide" Target="slides/slide10.xml"/><Relationship Id="rId38" Type="http://schemas.openxmlformats.org/officeDocument/2006/relationships/font" Target="fonts/Geologica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ий слайд">
  <p:cSld name="TITLE_AND_BODY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ленький заголовок + підпис + підзаголовок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198000" y="475200"/>
            <a:ext cx="8520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2" name="Google Shape;12;p3"/>
          <p:cNvSpPr txBox="1"/>
          <p:nvPr>
            <p:ph idx="1" type="body"/>
          </p:nvPr>
        </p:nvSpPr>
        <p:spPr>
          <a:xfrm>
            <a:off x="198000" y="1539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  <p:sp>
        <p:nvSpPr>
          <p:cNvPr id="14" name="Google Shape;14;p3"/>
          <p:cNvSpPr txBox="1"/>
          <p:nvPr>
            <p:ph idx="2" type="subTitle"/>
          </p:nvPr>
        </p:nvSpPr>
        <p:spPr>
          <a:xfrm>
            <a:off x="198000" y="190800"/>
            <a:ext cx="49122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b="1" sz="1200">
                <a:solidFill>
                  <a:srgbClr val="B7B7B7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3"/>
          <p:cNvSpPr txBox="1"/>
          <p:nvPr>
            <p:ph idx="3" type="subTitle"/>
          </p:nvPr>
        </p:nvSpPr>
        <p:spPr>
          <a:xfrm>
            <a:off x="198000" y="670089"/>
            <a:ext cx="6522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 sz="1400">
                <a:solidFill>
                  <a:srgbClr val="B7B7B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9pPr>
          </a:lstStyle>
          <a:p/>
        </p:txBody>
      </p:sp>
      <p:pic>
        <p:nvPicPr>
          <p:cNvPr id="16" name="Google Shape;16;p3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730377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ленький заголовок 2 + підпис + підзаголовок 1">
  <p:cSld name="TITLE_AND_BODY_4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98000" y="475200"/>
            <a:ext cx="2792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98000" y="1539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  <p:sp>
        <p:nvSpPr>
          <p:cNvPr id="21" name="Google Shape;21;p4"/>
          <p:cNvSpPr txBox="1"/>
          <p:nvPr>
            <p:ph idx="2" type="subTitle"/>
          </p:nvPr>
        </p:nvSpPr>
        <p:spPr>
          <a:xfrm>
            <a:off x="198000" y="190800"/>
            <a:ext cx="35328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b="1" sz="1200">
                <a:solidFill>
                  <a:srgbClr val="B7B7B7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idx="3" type="subTitle"/>
          </p:nvPr>
        </p:nvSpPr>
        <p:spPr>
          <a:xfrm>
            <a:off x="198000" y="929100"/>
            <a:ext cx="35328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 sz="1400">
                <a:solidFill>
                  <a:srgbClr val="B7B7B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9pPr>
          </a:lstStyle>
          <a:p/>
        </p:txBody>
      </p:sp>
      <p:pic>
        <p:nvPicPr>
          <p:cNvPr id="23" name="Google Shape;23;p4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730377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ликий заголовок + підзаголово 1">
  <p:cSld name="TITLE_AND_BODY_1_3_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198000" y="190800"/>
            <a:ext cx="8520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198000" y="155702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  <p:sp>
        <p:nvSpPr>
          <p:cNvPr id="30" name="Google Shape;30;p6"/>
          <p:cNvSpPr txBox="1"/>
          <p:nvPr>
            <p:ph idx="2" type="subTitle"/>
          </p:nvPr>
        </p:nvSpPr>
        <p:spPr>
          <a:xfrm>
            <a:off x="198000" y="622800"/>
            <a:ext cx="652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>
                <a:solidFill>
                  <a:srgbClr val="B7B7B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9pPr>
          </a:lstStyle>
          <a:p/>
        </p:txBody>
      </p:sp>
      <p:pic>
        <p:nvPicPr>
          <p:cNvPr id="31" name="Google Shape;31;p6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730377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ленький заголовок">
  <p:cSld name="TITLE_AND_BODY_3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198000" y="192025"/>
            <a:ext cx="8520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198000" y="1539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  <p:pic>
        <p:nvPicPr>
          <p:cNvPr id="36" name="Google Shape;36;p7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730377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ликий заголовок + підпис + підзаголовок">
  <p:cSld name="TITLE_AND_BODY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198000" y="475200"/>
            <a:ext cx="8520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198000" y="1539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  <p:sp>
        <p:nvSpPr>
          <p:cNvPr id="41" name="Google Shape;41;p8"/>
          <p:cNvSpPr txBox="1"/>
          <p:nvPr>
            <p:ph idx="2" type="subTitle"/>
          </p:nvPr>
        </p:nvSpPr>
        <p:spPr>
          <a:xfrm>
            <a:off x="198000" y="190800"/>
            <a:ext cx="49122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b="1" sz="1200">
                <a:solidFill>
                  <a:srgbClr val="B7B7B7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3" type="subTitle"/>
          </p:nvPr>
        </p:nvSpPr>
        <p:spPr>
          <a:xfrm>
            <a:off x="198000" y="907200"/>
            <a:ext cx="652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>
                <a:solidFill>
                  <a:srgbClr val="B7B7B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9pPr>
          </a:lstStyle>
          <a:p/>
        </p:txBody>
      </p:sp>
      <p:pic>
        <p:nvPicPr>
          <p:cNvPr id="43" name="Google Shape;43;p8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730377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ликий заголовок 2 рядки + підпис + підзаголовок">
  <p:cSld name="TITLE_AND_BODY_1_4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idx="1" type="body"/>
          </p:nvPr>
        </p:nvSpPr>
        <p:spPr>
          <a:xfrm>
            <a:off x="198000" y="1539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  <p:sp>
        <p:nvSpPr>
          <p:cNvPr id="47" name="Google Shape;47;p9"/>
          <p:cNvSpPr txBox="1"/>
          <p:nvPr>
            <p:ph idx="2" type="subTitle"/>
          </p:nvPr>
        </p:nvSpPr>
        <p:spPr>
          <a:xfrm>
            <a:off x="198000" y="190800"/>
            <a:ext cx="49122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b="1" sz="1200">
                <a:solidFill>
                  <a:srgbClr val="B7B7B7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198000" y="475203"/>
            <a:ext cx="8520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49" name="Google Shape;49;p9"/>
          <p:cNvSpPr txBox="1"/>
          <p:nvPr>
            <p:ph idx="3" type="subTitle"/>
          </p:nvPr>
        </p:nvSpPr>
        <p:spPr>
          <a:xfrm>
            <a:off x="198000" y="1256553"/>
            <a:ext cx="652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>
                <a:solidFill>
                  <a:srgbClr val="B7B7B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9pPr>
          </a:lstStyle>
          <a:p/>
        </p:txBody>
      </p:sp>
      <p:pic>
        <p:nvPicPr>
          <p:cNvPr id="50" name="Google Shape;50;p9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730377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ликий заголовок + підзаголово">
  <p:cSld name="TITLE_AND_BODY_1_3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type="title"/>
          </p:nvPr>
        </p:nvSpPr>
        <p:spPr>
          <a:xfrm>
            <a:off x="198000" y="190800"/>
            <a:ext cx="8520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198000" y="155702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  <p:sp>
        <p:nvSpPr>
          <p:cNvPr id="55" name="Google Shape;55;p10"/>
          <p:cNvSpPr txBox="1"/>
          <p:nvPr>
            <p:ph idx="2" type="subTitle"/>
          </p:nvPr>
        </p:nvSpPr>
        <p:spPr>
          <a:xfrm>
            <a:off x="198000" y="622800"/>
            <a:ext cx="652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>
                <a:solidFill>
                  <a:srgbClr val="B7B7B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9pPr>
          </a:lstStyle>
          <a:p/>
        </p:txBody>
      </p:sp>
      <p:pic>
        <p:nvPicPr>
          <p:cNvPr id="56" name="Google Shape;56;p10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730377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ликий заголовок 2 рядки + підзаголовок">
  <p:cSld name="TITLE_AND_BODY_1_3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type="title"/>
          </p:nvPr>
        </p:nvSpPr>
        <p:spPr>
          <a:xfrm>
            <a:off x="198000" y="190800"/>
            <a:ext cx="8520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198000" y="155702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  <p:sp>
        <p:nvSpPr>
          <p:cNvPr id="61" name="Google Shape;61;p11"/>
          <p:cNvSpPr txBox="1"/>
          <p:nvPr>
            <p:ph idx="2" type="subTitle"/>
          </p:nvPr>
        </p:nvSpPr>
        <p:spPr>
          <a:xfrm>
            <a:off x="198000" y="972150"/>
            <a:ext cx="652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>
                <a:solidFill>
                  <a:srgbClr val="B7B7B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9pPr>
          </a:lstStyle>
          <a:p/>
        </p:txBody>
      </p:sp>
      <p:pic>
        <p:nvPicPr>
          <p:cNvPr id="62" name="Google Shape;62;p11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730377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ликий заголовок">
  <p:cSld name="TITLE_AND_BODY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198000" y="192025"/>
            <a:ext cx="8520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198000" y="1539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67" name="Google Shape;67;p12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730377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ий слайд 1">
  <p:cSld name="TITLE_AND_BODY_1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" title="Zoom call cove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ий слайд 1 1">
  <p:cSld name="TITLE_AND_BODY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 title="Zoom call cover-2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ий слайд 1 1 1">
  <p:cSld name="TITLE_AND_BODY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 title="Zoom call cover-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" y="13"/>
            <a:ext cx="9144000" cy="514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аленький заголовок - ліворуч зображення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5413250" y="475200"/>
            <a:ext cx="35478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5413250" y="1539650"/>
            <a:ext cx="354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2" type="subTitle"/>
          </p:nvPr>
        </p:nvSpPr>
        <p:spPr>
          <a:xfrm>
            <a:off x="5413250" y="190800"/>
            <a:ext cx="35478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b="1" sz="1200">
                <a:solidFill>
                  <a:srgbClr val="B7B7B7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8" name="Google Shape;78;p16"/>
          <p:cNvSpPr txBox="1"/>
          <p:nvPr>
            <p:ph idx="3" type="subTitle"/>
          </p:nvPr>
        </p:nvSpPr>
        <p:spPr>
          <a:xfrm>
            <a:off x="5413250" y="723600"/>
            <a:ext cx="3547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 sz="1400">
                <a:solidFill>
                  <a:srgbClr val="B7B7B7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None/>
              <a:defRPr b="1">
                <a:solidFill>
                  <a:srgbClr val="B7B7B7"/>
                </a:solidFill>
              </a:defRPr>
            </a:lvl9pPr>
          </a:lstStyle>
          <a:p/>
        </p:txBody>
      </p:sp>
      <p:pic>
        <p:nvPicPr>
          <p:cNvPr id="79" name="Google Shape;79;p16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192027" y="4725300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з фото, с сертификатом гугл">
  <p:cSld name="TITLE_2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7"/>
          <p:cNvGrpSpPr/>
          <p:nvPr/>
        </p:nvGrpSpPr>
        <p:grpSpPr>
          <a:xfrm>
            <a:off x="8782950" y="0"/>
            <a:ext cx="361020" cy="361000"/>
            <a:chOff x="8782950" y="0"/>
            <a:chExt cx="361020" cy="361000"/>
          </a:xfrm>
        </p:grpSpPr>
        <p:sp>
          <p:nvSpPr>
            <p:cNvPr id="82" name="Google Shape;82;p17"/>
            <p:cNvSpPr/>
            <p:nvPr/>
          </p:nvSpPr>
          <p:spPr>
            <a:xfrm>
              <a:off x="8782950" y="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7"/>
            <p:cNvSpPr/>
            <p:nvPr/>
          </p:nvSpPr>
          <p:spPr>
            <a:xfrm rot="-5400000">
              <a:off x="8908470" y="12550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40925" y="864000"/>
            <a:ext cx="48603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794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794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B3438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794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794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79400" lvl="7" marL="3657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79400" lvl="8" marL="411480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5" name="Google Shape;85;p17"/>
          <p:cNvSpPr/>
          <p:nvPr/>
        </p:nvSpPr>
        <p:spPr>
          <a:xfrm>
            <a:off x="8377150" y="4374363"/>
            <a:ext cx="601200" cy="600600"/>
          </a:xfrm>
          <a:prstGeom prst="roundRect">
            <a:avLst>
              <a:gd fmla="val 19963" name="adj"/>
            </a:avLst>
          </a:prstGeom>
          <a:solidFill>
            <a:srgbClr val="FFFFFF"/>
          </a:solidFill>
          <a:ln>
            <a:noFill/>
          </a:ln>
          <a:effectLst>
            <a:outerShdw blurRad="357188" rotWithShape="0" algn="bl" dir="3540000" dist="28575">
              <a:srgbClr val="595959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7708475" y="4374363"/>
            <a:ext cx="601200" cy="600600"/>
          </a:xfrm>
          <a:prstGeom prst="roundRect">
            <a:avLst>
              <a:gd fmla="val 19963" name="adj"/>
            </a:avLst>
          </a:prstGeom>
          <a:solidFill>
            <a:srgbClr val="FFFFFF"/>
          </a:solidFill>
          <a:ln>
            <a:noFill/>
          </a:ln>
          <a:effectLst>
            <a:outerShdw blurRad="357188" rotWithShape="0" algn="bl" dir="3540000" dist="28575">
              <a:srgbClr val="595959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497238" y="4494342"/>
            <a:ext cx="361026" cy="360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6475" y="4494688"/>
            <a:ext cx="385199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/>
        </p:nvSpPr>
        <p:spPr>
          <a:xfrm rot="5400000">
            <a:off x="-80850" y="535825"/>
            <a:ext cx="271800" cy="1101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7" title="Залоговок в одну строку"/>
          <p:cNvSpPr txBox="1"/>
          <p:nvPr>
            <p:ph type="title"/>
          </p:nvPr>
        </p:nvSpPr>
        <p:spPr>
          <a:xfrm>
            <a:off x="342000" y="360475"/>
            <a:ext cx="5666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ликий заголовок 2 рядки + підпис + підзаголовок 1">
  <p:cSld name="TITLE_AND_BODY_1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98000" y="1539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  <p:sp>
        <p:nvSpPr>
          <p:cNvPr id="94" name="Google Shape;94;p18"/>
          <p:cNvSpPr txBox="1"/>
          <p:nvPr>
            <p:ph idx="2" type="subTitle"/>
          </p:nvPr>
        </p:nvSpPr>
        <p:spPr>
          <a:xfrm>
            <a:off x="198000" y="190800"/>
            <a:ext cx="49122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b="1" sz="1200">
                <a:solidFill>
                  <a:srgbClr val="B7B7B7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198000" y="475203"/>
            <a:ext cx="8520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96" name="Google Shape;96;p18"/>
          <p:cNvSpPr txBox="1"/>
          <p:nvPr>
            <p:ph idx="3" type="subTitle"/>
          </p:nvPr>
        </p:nvSpPr>
        <p:spPr>
          <a:xfrm>
            <a:off x="198000" y="1256553"/>
            <a:ext cx="652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>
                <a:solidFill>
                  <a:srgbClr val="B7B7B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9pPr>
          </a:lstStyle>
          <a:p/>
        </p:txBody>
      </p:sp>
      <p:pic>
        <p:nvPicPr>
          <p:cNvPr id="97" name="Google Shape;97;p18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730377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ликий заголовок 2 рядки + підпис + підзаголовок 2">
  <p:cSld name="TITLE_AND_BODY_1_4_2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198000" y="15396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idx="2" type="subTitle"/>
          </p:nvPr>
        </p:nvSpPr>
        <p:spPr>
          <a:xfrm>
            <a:off x="198000" y="190800"/>
            <a:ext cx="49122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200"/>
              <a:buNone/>
              <a:defRPr b="1" sz="1200">
                <a:solidFill>
                  <a:srgbClr val="B7B7B7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198000" y="475203"/>
            <a:ext cx="8520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 sz="3000"/>
            </a:lvl9pPr>
          </a:lstStyle>
          <a:p/>
        </p:txBody>
      </p:sp>
      <p:sp>
        <p:nvSpPr>
          <p:cNvPr id="103" name="Google Shape;103;p19"/>
          <p:cNvSpPr txBox="1"/>
          <p:nvPr>
            <p:ph idx="3" type="subTitle"/>
          </p:nvPr>
        </p:nvSpPr>
        <p:spPr>
          <a:xfrm>
            <a:off x="198000" y="1256553"/>
            <a:ext cx="6522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>
                <a:solidFill>
                  <a:srgbClr val="B7B7B7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None/>
              <a:defRPr b="1" sz="1800">
                <a:solidFill>
                  <a:srgbClr val="B7B7B7"/>
                </a:solidFill>
              </a:defRPr>
            </a:lvl9pPr>
          </a:lstStyle>
          <a:p/>
        </p:txBody>
      </p:sp>
      <p:pic>
        <p:nvPicPr>
          <p:cNvPr id="104" name="Google Shape;104;p19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8730377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24">
  <p:cSld name="MAIN_POINT_1_1_1_1_1_1_2_1_1_1_1_1_1_2_1_1_1_1_1_1_1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 rotWithShape="1">
          <a:blip r:embed="rId2">
            <a:alphaModFix/>
          </a:blip>
          <a:srcRect b="0" l="20867" r="49697" t="0"/>
          <a:stretch/>
        </p:blipFill>
        <p:spPr>
          <a:xfrm>
            <a:off x="6874075" y="0"/>
            <a:ext cx="226993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20"/>
          <p:cNvGrpSpPr/>
          <p:nvPr/>
        </p:nvGrpSpPr>
        <p:grpSpPr>
          <a:xfrm>
            <a:off x="8782950" y="0"/>
            <a:ext cx="361020" cy="361000"/>
            <a:chOff x="8782950" y="0"/>
            <a:chExt cx="361020" cy="361000"/>
          </a:xfrm>
        </p:grpSpPr>
        <p:sp>
          <p:nvSpPr>
            <p:cNvPr id="108" name="Google Shape;108;p20"/>
            <p:cNvSpPr/>
            <p:nvPr/>
          </p:nvSpPr>
          <p:spPr>
            <a:xfrm>
              <a:off x="8782950" y="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0"/>
            <p:cNvSpPr/>
            <p:nvPr/>
          </p:nvSpPr>
          <p:spPr>
            <a:xfrm rot="-5400000">
              <a:off x="8908470" y="12550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20"/>
          <p:cNvSpPr/>
          <p:nvPr/>
        </p:nvSpPr>
        <p:spPr>
          <a:xfrm rot="5400000">
            <a:off x="-80850" y="535825"/>
            <a:ext cx="271800" cy="1101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20"/>
          <p:cNvGrpSpPr/>
          <p:nvPr/>
        </p:nvGrpSpPr>
        <p:grpSpPr>
          <a:xfrm>
            <a:off x="8782950" y="0"/>
            <a:ext cx="361020" cy="361000"/>
            <a:chOff x="8782950" y="0"/>
            <a:chExt cx="361020" cy="361000"/>
          </a:xfrm>
        </p:grpSpPr>
        <p:sp>
          <p:nvSpPr>
            <p:cNvPr id="112" name="Google Shape;112;p20"/>
            <p:cNvSpPr/>
            <p:nvPr/>
          </p:nvSpPr>
          <p:spPr>
            <a:xfrm>
              <a:off x="8782950" y="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0"/>
            <p:cNvSpPr/>
            <p:nvPr/>
          </p:nvSpPr>
          <p:spPr>
            <a:xfrm rot="-5400000">
              <a:off x="8908470" y="12550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40925" y="864000"/>
            <a:ext cx="48603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794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794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B3438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794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794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79400" lvl="7" marL="3657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79400" lvl="8" marL="411480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5" name="Google Shape;115;p20"/>
          <p:cNvSpPr/>
          <p:nvPr/>
        </p:nvSpPr>
        <p:spPr>
          <a:xfrm>
            <a:off x="8377150" y="4374388"/>
            <a:ext cx="601200" cy="600600"/>
          </a:xfrm>
          <a:prstGeom prst="roundRect">
            <a:avLst>
              <a:gd fmla="val 199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7708475" y="4374388"/>
            <a:ext cx="601200" cy="600600"/>
          </a:xfrm>
          <a:prstGeom prst="roundRect">
            <a:avLst>
              <a:gd fmla="val 199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497238" y="4494367"/>
            <a:ext cx="361026" cy="360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6475" y="4494688"/>
            <a:ext cx="385199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 title="Залоговок в одну строку"/>
          <p:cNvSpPr txBox="1"/>
          <p:nvPr>
            <p:ph type="title"/>
          </p:nvPr>
        </p:nvSpPr>
        <p:spPr>
          <a:xfrm>
            <a:off x="342000" y="360475"/>
            <a:ext cx="5666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8 1">
  <p:cSld name="MAIN_POINT_1_1_1_1_1_1_2_1_1_3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/>
          <p:cNvPicPr preferRelativeResize="0"/>
          <p:nvPr/>
        </p:nvPicPr>
        <p:blipFill rotWithShape="1">
          <a:blip r:embed="rId2">
            <a:alphaModFix/>
          </a:blip>
          <a:srcRect b="0" l="55835" r="11023" t="0"/>
          <a:stretch/>
        </p:blipFill>
        <p:spPr>
          <a:xfrm>
            <a:off x="6874075" y="0"/>
            <a:ext cx="2269926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21"/>
          <p:cNvGrpSpPr/>
          <p:nvPr/>
        </p:nvGrpSpPr>
        <p:grpSpPr>
          <a:xfrm>
            <a:off x="8782950" y="0"/>
            <a:ext cx="361020" cy="361000"/>
            <a:chOff x="8782950" y="0"/>
            <a:chExt cx="361020" cy="361000"/>
          </a:xfrm>
        </p:grpSpPr>
        <p:sp>
          <p:nvSpPr>
            <p:cNvPr id="123" name="Google Shape;123;p21"/>
            <p:cNvSpPr/>
            <p:nvPr/>
          </p:nvSpPr>
          <p:spPr>
            <a:xfrm>
              <a:off x="8782950" y="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1"/>
            <p:cNvSpPr/>
            <p:nvPr/>
          </p:nvSpPr>
          <p:spPr>
            <a:xfrm rot="-5400000">
              <a:off x="8908470" y="12550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21"/>
          <p:cNvSpPr/>
          <p:nvPr/>
        </p:nvSpPr>
        <p:spPr>
          <a:xfrm rot="5400000">
            <a:off x="-80850" y="535825"/>
            <a:ext cx="271800" cy="1101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1" title="Залоговок в одну строку"/>
          <p:cNvSpPr txBox="1"/>
          <p:nvPr>
            <p:ph type="title"/>
          </p:nvPr>
        </p:nvSpPr>
        <p:spPr>
          <a:xfrm>
            <a:off x="342000" y="360475"/>
            <a:ext cx="5666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2800"/>
              <a:buNone/>
              <a:defRPr>
                <a:solidFill>
                  <a:srgbClr val="2B3438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2800"/>
              <a:buNone/>
              <a:defRPr>
                <a:solidFill>
                  <a:srgbClr val="2B3438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2800"/>
              <a:buNone/>
              <a:defRPr>
                <a:solidFill>
                  <a:srgbClr val="2B3438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2800"/>
              <a:buNone/>
              <a:defRPr>
                <a:solidFill>
                  <a:srgbClr val="2B3438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2800"/>
              <a:buNone/>
              <a:defRPr>
                <a:solidFill>
                  <a:srgbClr val="2B3438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2800"/>
              <a:buNone/>
              <a:defRPr>
                <a:solidFill>
                  <a:srgbClr val="2B3438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2800"/>
              <a:buNone/>
              <a:defRPr>
                <a:solidFill>
                  <a:srgbClr val="2B3438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2800"/>
              <a:buNone/>
              <a:defRPr>
                <a:solidFill>
                  <a:srgbClr val="2B3438"/>
                </a:solidFill>
              </a:defRPr>
            </a:lvl9pPr>
          </a:lstStyle>
          <a:p/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40925" y="864000"/>
            <a:ext cx="48603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305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3E3"/>
              </a:buClr>
              <a:buSzPts val="700"/>
              <a:buFont typeface="Montserrat"/>
              <a:buChar char="●"/>
              <a:defRPr sz="7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7305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700"/>
              <a:buFont typeface="Montserrat"/>
              <a:buChar char="○"/>
              <a:defRPr sz="7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7305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700"/>
              <a:buFont typeface="Montserrat"/>
              <a:buChar char="■"/>
              <a:defRPr sz="7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7305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700"/>
              <a:buFont typeface="Montserrat"/>
              <a:buChar char="●"/>
              <a:defRPr sz="7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7305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B3438"/>
              </a:buClr>
              <a:buSzPts val="700"/>
              <a:buFont typeface="Montserrat"/>
              <a:buChar char="○"/>
              <a:defRPr sz="7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7305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700"/>
              <a:buFont typeface="Montserrat"/>
              <a:buChar char="■"/>
              <a:defRPr sz="7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7305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700"/>
              <a:buFont typeface="Montserrat"/>
              <a:buChar char="●"/>
              <a:defRPr sz="7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73050" lvl="7" marL="3657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700"/>
              <a:buFont typeface="Montserrat"/>
              <a:buChar char="○"/>
              <a:defRPr sz="7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73050" lvl="8" marL="411480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3E3"/>
              </a:buClr>
              <a:buSzPts val="700"/>
              <a:buFont typeface="Montserrat"/>
              <a:buChar char="■"/>
              <a:defRPr sz="7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8" name="Google Shape;128;p21"/>
          <p:cNvSpPr/>
          <p:nvPr/>
        </p:nvSpPr>
        <p:spPr>
          <a:xfrm>
            <a:off x="8377150" y="4374388"/>
            <a:ext cx="601200" cy="600600"/>
          </a:xfrm>
          <a:prstGeom prst="roundRect">
            <a:avLst>
              <a:gd fmla="val 199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/>
          <p:nvPr/>
        </p:nvSpPr>
        <p:spPr>
          <a:xfrm>
            <a:off x="7708475" y="4374388"/>
            <a:ext cx="601200" cy="600600"/>
          </a:xfrm>
          <a:prstGeom prst="roundRect">
            <a:avLst>
              <a:gd fmla="val 199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497238" y="4494367"/>
            <a:ext cx="361026" cy="360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6475" y="4494688"/>
            <a:ext cx="385199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1">
  <p:cSld name="MAIN_POINT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2"/>
          <p:cNvPicPr preferRelativeResize="0"/>
          <p:nvPr/>
        </p:nvPicPr>
        <p:blipFill rotWithShape="1">
          <a:blip r:embed="rId2">
            <a:alphaModFix/>
          </a:blip>
          <a:srcRect b="0" l="28473" r="42113" t="0"/>
          <a:stretch/>
        </p:blipFill>
        <p:spPr>
          <a:xfrm>
            <a:off x="6874075" y="0"/>
            <a:ext cx="2269926" cy="5143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22"/>
          <p:cNvGrpSpPr/>
          <p:nvPr/>
        </p:nvGrpSpPr>
        <p:grpSpPr>
          <a:xfrm>
            <a:off x="8782950" y="0"/>
            <a:ext cx="361020" cy="361000"/>
            <a:chOff x="8782950" y="0"/>
            <a:chExt cx="361020" cy="361000"/>
          </a:xfrm>
        </p:grpSpPr>
        <p:sp>
          <p:nvSpPr>
            <p:cNvPr id="135" name="Google Shape;135;p22"/>
            <p:cNvSpPr/>
            <p:nvPr/>
          </p:nvSpPr>
          <p:spPr>
            <a:xfrm>
              <a:off x="8782950" y="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2"/>
            <p:cNvSpPr/>
            <p:nvPr/>
          </p:nvSpPr>
          <p:spPr>
            <a:xfrm rot="-5400000">
              <a:off x="8908470" y="12550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340925" y="864000"/>
            <a:ext cx="48603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794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794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B3438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794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794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79400" lvl="7" marL="3657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79400" lvl="8" marL="411480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8" name="Google Shape;138;p22"/>
          <p:cNvSpPr/>
          <p:nvPr/>
        </p:nvSpPr>
        <p:spPr>
          <a:xfrm>
            <a:off x="8377150" y="4374388"/>
            <a:ext cx="601200" cy="600600"/>
          </a:xfrm>
          <a:prstGeom prst="roundRect">
            <a:avLst>
              <a:gd fmla="val 199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7708475" y="4374388"/>
            <a:ext cx="601200" cy="600600"/>
          </a:xfrm>
          <a:prstGeom prst="roundRect">
            <a:avLst>
              <a:gd fmla="val 199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22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497238" y="4494367"/>
            <a:ext cx="361026" cy="360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6475" y="4494688"/>
            <a:ext cx="385199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/>
          <p:nvPr/>
        </p:nvSpPr>
        <p:spPr>
          <a:xfrm rot="5400000">
            <a:off x="-80850" y="535350"/>
            <a:ext cx="271800" cy="1101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 title="Залоговок в одну строку"/>
          <p:cNvSpPr txBox="1"/>
          <p:nvPr>
            <p:ph type="title"/>
          </p:nvPr>
        </p:nvSpPr>
        <p:spPr>
          <a:xfrm>
            <a:off x="342000" y="360000"/>
            <a:ext cx="5666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1 строку 13">
  <p:cSld name="MAIN_POINT_1_1_1_1_1_1_2_1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23"/>
          <p:cNvGrpSpPr/>
          <p:nvPr/>
        </p:nvGrpSpPr>
        <p:grpSpPr>
          <a:xfrm>
            <a:off x="8782950" y="0"/>
            <a:ext cx="361020" cy="361000"/>
            <a:chOff x="8782950" y="0"/>
            <a:chExt cx="361020" cy="361000"/>
          </a:xfrm>
        </p:grpSpPr>
        <p:sp>
          <p:nvSpPr>
            <p:cNvPr id="146" name="Google Shape;146;p23"/>
            <p:cNvSpPr/>
            <p:nvPr/>
          </p:nvSpPr>
          <p:spPr>
            <a:xfrm>
              <a:off x="8782950" y="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 rot="-5400000">
              <a:off x="8908470" y="12550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23"/>
          <p:cNvSpPr/>
          <p:nvPr/>
        </p:nvSpPr>
        <p:spPr>
          <a:xfrm rot="5400000">
            <a:off x="-80850" y="535825"/>
            <a:ext cx="271800" cy="1101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92863" y="4683487"/>
            <a:ext cx="634501" cy="259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 rotWithShape="1">
          <a:blip r:embed="rId3">
            <a:alphaModFix/>
          </a:blip>
          <a:srcRect b="0" l="12734" r="57830" t="0"/>
          <a:stretch/>
        </p:blipFill>
        <p:spPr>
          <a:xfrm flipH="1">
            <a:off x="6874150" y="0"/>
            <a:ext cx="22699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/>
          <p:nvPr/>
        </p:nvSpPr>
        <p:spPr>
          <a:xfrm>
            <a:off x="6873875" y="0"/>
            <a:ext cx="2269800" cy="5143500"/>
          </a:xfrm>
          <a:prstGeom prst="rect">
            <a:avLst/>
          </a:prstGeom>
          <a:solidFill>
            <a:srgbClr val="080A0B">
              <a:alpha val="1568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23"/>
          <p:cNvGrpSpPr/>
          <p:nvPr/>
        </p:nvGrpSpPr>
        <p:grpSpPr>
          <a:xfrm>
            <a:off x="8782950" y="0"/>
            <a:ext cx="361020" cy="361000"/>
            <a:chOff x="8782950" y="0"/>
            <a:chExt cx="361020" cy="361000"/>
          </a:xfrm>
        </p:grpSpPr>
        <p:sp>
          <p:nvSpPr>
            <p:cNvPr id="153" name="Google Shape;153;p23"/>
            <p:cNvSpPr/>
            <p:nvPr/>
          </p:nvSpPr>
          <p:spPr>
            <a:xfrm>
              <a:off x="8782950" y="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 rot="-5400000">
              <a:off x="8908470" y="125500"/>
              <a:ext cx="360900" cy="110100"/>
            </a:xfrm>
            <a:prstGeom prst="rect">
              <a:avLst/>
            </a:prstGeom>
            <a:solidFill>
              <a:srgbClr val="00B5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340925" y="864000"/>
            <a:ext cx="48603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794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794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2B3438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79400" lvl="5" marL="2743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79400" lvl="6" marL="3200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●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79400" lvl="7" marL="3657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B3E3"/>
              </a:buClr>
              <a:buSzPts val="800"/>
              <a:buFont typeface="Montserrat"/>
              <a:buChar char="○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79400" lvl="8" marL="411480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B3E3"/>
              </a:buClr>
              <a:buSzPts val="800"/>
              <a:buFont typeface="Montserrat"/>
              <a:buChar char="■"/>
              <a:defRPr sz="800">
                <a:solidFill>
                  <a:srgbClr val="2B343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6" name="Google Shape;156;p23"/>
          <p:cNvSpPr/>
          <p:nvPr/>
        </p:nvSpPr>
        <p:spPr>
          <a:xfrm>
            <a:off x="8377150" y="4374388"/>
            <a:ext cx="601200" cy="600600"/>
          </a:xfrm>
          <a:prstGeom prst="roundRect">
            <a:avLst>
              <a:gd fmla="val 199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7708475" y="4374388"/>
            <a:ext cx="601200" cy="600600"/>
          </a:xfrm>
          <a:prstGeom prst="roundRect">
            <a:avLst>
              <a:gd fmla="val 199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8497238" y="4494367"/>
            <a:ext cx="361026" cy="360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6475" y="4494688"/>
            <a:ext cx="385199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 title="Залоговок в одну строку"/>
          <p:cNvSpPr txBox="1"/>
          <p:nvPr>
            <p:ph type="title"/>
          </p:nvPr>
        </p:nvSpPr>
        <p:spPr>
          <a:xfrm>
            <a:off x="342000" y="360475"/>
            <a:ext cx="5666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438"/>
              </a:buClr>
              <a:buSzPts val="1800"/>
              <a:buNone/>
              <a:defRPr sz="1800">
                <a:solidFill>
                  <a:srgbClr val="2B343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1 1">
  <p:cSld name="BLANK_1_1">
    <p:bg>
      <p:bgPr>
        <a:solidFill>
          <a:schemeClr val="accen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760200" y="2240100"/>
            <a:ext cx="76236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mo"/>
              <a:buNone/>
              <a:defRPr b="1" sz="36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mo"/>
              <a:buNone/>
              <a:defRPr b="1" sz="36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mo"/>
              <a:buNone/>
              <a:defRPr b="1" sz="36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mo"/>
              <a:buNone/>
              <a:defRPr b="1" sz="36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mo"/>
              <a:buNone/>
              <a:defRPr b="1" sz="36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mo"/>
              <a:buNone/>
              <a:defRPr b="1" sz="36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mo"/>
              <a:buNone/>
              <a:defRPr b="1" sz="36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mo"/>
              <a:buNone/>
              <a:defRPr b="1" sz="36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imo"/>
              <a:buNone/>
              <a:defRPr b="1" sz="36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pic>
        <p:nvPicPr>
          <p:cNvPr id="169" name="Google Shape;169;p26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4456627" y="4684150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1 1 1">
  <p:cSld name="BLANK_1_1_1"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760200" y="2240100"/>
            <a:ext cx="76236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mo"/>
              <a:buNone/>
              <a:defRPr b="1" sz="36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mo"/>
              <a:buNone/>
              <a:defRPr b="1" sz="36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mo"/>
              <a:buNone/>
              <a:defRPr b="1" sz="36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mo"/>
              <a:buNone/>
              <a:defRPr b="1" sz="36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mo"/>
              <a:buNone/>
              <a:defRPr b="1" sz="36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mo"/>
              <a:buNone/>
              <a:defRPr b="1" sz="36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mo"/>
              <a:buNone/>
              <a:defRPr b="1" sz="36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mo"/>
              <a:buNone/>
              <a:defRPr b="1" sz="36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mo"/>
              <a:buNone/>
              <a:defRPr b="1" sz="3600">
                <a:solidFill>
                  <a:schemeClr val="accen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pic>
        <p:nvPicPr>
          <p:cNvPr id="172" name="Google Shape;172;p27" title="netpeak_icon_blue.png"/>
          <p:cNvPicPr preferRelativeResize="0"/>
          <p:nvPr/>
        </p:nvPicPr>
        <p:blipFill rotWithShape="1">
          <a:blip r:embed="rId2">
            <a:alphaModFix amt="50000"/>
          </a:blip>
          <a:srcRect b="0" l="0" r="0" t="0"/>
          <a:stretch/>
        </p:blipFill>
        <p:spPr>
          <a:xfrm>
            <a:off x="4456627" y="4684150"/>
            <a:ext cx="230751" cy="2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1">
          <p15:clr>
            <a:srgbClr val="FF00FF"/>
          </p15:clr>
        </p15:guide>
        <p15:guide id="2" pos="467">
          <p15:clr>
            <a:srgbClr val="00FF00"/>
          </p15:clr>
        </p15:guide>
        <p15:guide id="3" pos="588">
          <p15:clr>
            <a:srgbClr val="00FF00"/>
          </p15:clr>
        </p15:guide>
        <p15:guide id="4" pos="939">
          <p15:clr>
            <a:srgbClr val="00FF00"/>
          </p15:clr>
        </p15:guide>
        <p15:guide id="5" pos="1060">
          <p15:clr>
            <a:srgbClr val="00FF00"/>
          </p15:clr>
        </p15:guide>
        <p15:guide id="6" pos="1411">
          <p15:clr>
            <a:srgbClr val="00FF00"/>
          </p15:clr>
        </p15:guide>
        <p15:guide id="7" pos="1532">
          <p15:clr>
            <a:srgbClr val="00FF00"/>
          </p15:clr>
        </p15:guide>
        <p15:guide id="8" pos="1884">
          <p15:clr>
            <a:srgbClr val="00FF00"/>
          </p15:clr>
        </p15:guide>
        <p15:guide id="9" pos="1999">
          <p15:clr>
            <a:srgbClr val="00FF00"/>
          </p15:clr>
        </p15:guide>
        <p15:guide id="10" pos="2350">
          <p15:clr>
            <a:srgbClr val="00FF00"/>
          </p15:clr>
        </p15:guide>
        <p15:guide id="11" pos="2471">
          <p15:clr>
            <a:srgbClr val="00FF00"/>
          </p15:clr>
        </p15:guide>
        <p15:guide id="12" pos="2822">
          <p15:clr>
            <a:srgbClr val="00FF00"/>
          </p15:clr>
        </p15:guide>
        <p15:guide id="13" pos="2938">
          <p15:clr>
            <a:srgbClr val="00FF00"/>
          </p15:clr>
        </p15:guide>
        <p15:guide id="14" pos="3289">
          <p15:clr>
            <a:srgbClr val="00FF00"/>
          </p15:clr>
        </p15:guide>
        <p15:guide id="15" pos="3410">
          <p15:clr>
            <a:srgbClr val="00FF00"/>
          </p15:clr>
        </p15:guide>
        <p15:guide id="16" pos="3761">
          <p15:clr>
            <a:srgbClr val="00FF00"/>
          </p15:clr>
        </p15:guide>
        <p15:guide id="17" pos="3882">
          <p15:clr>
            <a:srgbClr val="00FF00"/>
          </p15:clr>
        </p15:guide>
        <p15:guide id="18" pos="4234">
          <p15:clr>
            <a:srgbClr val="00FF00"/>
          </p15:clr>
        </p15:guide>
        <p15:guide id="19" pos="4355">
          <p15:clr>
            <a:srgbClr val="00FF00"/>
          </p15:clr>
        </p15:guide>
        <p15:guide id="20" pos="4706">
          <p15:clr>
            <a:srgbClr val="00FF00"/>
          </p15:clr>
        </p15:guide>
        <p15:guide id="21" pos="4821">
          <p15:clr>
            <a:srgbClr val="00FF00"/>
          </p15:clr>
        </p15:guide>
        <p15:guide id="22" pos="5172">
          <p15:clr>
            <a:srgbClr val="00FF00"/>
          </p15:clr>
        </p15:guide>
        <p15:guide id="23" pos="5645">
          <p15:clr>
            <a:srgbClr val="FF00FF"/>
          </p15:clr>
        </p15:guide>
        <p15:guide id="24" orient="horz" pos="3122">
          <p15:clr>
            <a:srgbClr val="FF00FF"/>
          </p15:clr>
        </p15:guide>
        <p15:guide id="25" orient="horz" pos="121">
          <p15:clr>
            <a:srgbClr val="FF00FF"/>
          </p15:clr>
        </p15:guide>
        <p15:guide id="26" pos="5293">
          <p15:clr>
            <a:srgbClr val="00FF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5.png"/><Relationship Id="rId13" Type="http://schemas.openxmlformats.org/officeDocument/2006/relationships/image" Target="../media/image13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9" Type="http://schemas.openxmlformats.org/officeDocument/2006/relationships/hyperlink" Target="https://focus.ua/uk/ukraine/731985-meta-first-yak-agentstvo-netpeak-stalo-pershim-v-ukrajini-meta-media-certified-i-shcho-ce-oznachaye-dlya-biznesu" TargetMode="External"/><Relationship Id="rId5" Type="http://schemas.openxmlformats.org/officeDocument/2006/relationships/hyperlink" Target="https://www.google.com/partners/agency?id=6877175886" TargetMode="External"/><Relationship Id="rId6" Type="http://schemas.openxmlformats.org/officeDocument/2006/relationships/hyperlink" Target="https://www.google.com/partners/agency?id=6877175886" TargetMode="External"/><Relationship Id="rId7" Type="http://schemas.openxmlformats.org/officeDocument/2006/relationships/image" Target="../media/image10.png"/><Relationship Id="rId8" Type="http://schemas.openxmlformats.org/officeDocument/2006/relationships/hyperlink" Target="https://focus.ua/uk/ukraine/731985-meta-first-yak-agentstvo-netpeak-stalo-pershim-v-ukrajini-meta-media-certified-i-shcho-ce-oznachaye-dlya-biznesu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hyperlink" Target="https://docs.google.com/spreadsheets/d/1bnnbCB52Kd79fvZKoM-4MDHwPsGCb93xZWNGk6cZAT4/edit?usp=sharing" TargetMode="External"/><Relationship Id="rId5" Type="http://schemas.openxmlformats.org/officeDocument/2006/relationships/hyperlink" Target="https://docs.google.com/spreadsheets/d/1bnnbCB52Kd79fvZKoM-4MDHwPsGCb93xZWNGk6cZAT4/edit?usp=shar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26.png"/><Relationship Id="rId13" Type="http://schemas.openxmlformats.org/officeDocument/2006/relationships/image" Target="../media/image24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25.png"/><Relationship Id="rId14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Relationship Id="rId7" Type="http://schemas.openxmlformats.org/officeDocument/2006/relationships/image" Target="../media/image28.png"/><Relationship Id="rId8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37.jpg"/><Relationship Id="rId1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png"/><Relationship Id="rId4" Type="http://schemas.openxmlformats.org/officeDocument/2006/relationships/image" Target="../media/image27.jpg"/><Relationship Id="rId9" Type="http://schemas.openxmlformats.org/officeDocument/2006/relationships/image" Target="../media/image33.png"/><Relationship Id="rId5" Type="http://schemas.openxmlformats.org/officeDocument/2006/relationships/image" Target="../media/image39.png"/><Relationship Id="rId6" Type="http://schemas.openxmlformats.org/officeDocument/2006/relationships/image" Target="../media/image48.png"/><Relationship Id="rId7" Type="http://schemas.openxmlformats.org/officeDocument/2006/relationships/image" Target="../media/image40.png"/><Relationship Id="rId8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20" Type="http://schemas.openxmlformats.org/officeDocument/2006/relationships/image" Target="../media/image47.png"/><Relationship Id="rId22" Type="http://schemas.openxmlformats.org/officeDocument/2006/relationships/hyperlink" Target="https://msadvertisingpartnerprogram.powerappsportals.com/partner-directory-profile-full/?partnerProfileID=1c52ba7c-da2e-ef11-840b-000d3a5d581a" TargetMode="External"/><Relationship Id="rId21" Type="http://schemas.openxmlformats.org/officeDocument/2006/relationships/hyperlink" Target="https://msadvertisingpartnerprogram.powerappsportals.com/partner-directory-profile-full/?partnerProfileID=1c52ba7c-da2e-ef11-840b-000d3a5d581a" TargetMode="External"/><Relationship Id="rId24" Type="http://schemas.openxmlformats.org/officeDocument/2006/relationships/hyperlink" Target="https://www.facebook.com/business/partner-directory/search?solution_type=campaign_management&amp;ref=fmp_about_find_partner_hero_cta&amp;id=2691029654458899&amp;section=overview" TargetMode="External"/><Relationship Id="rId23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4.png"/><Relationship Id="rId4" Type="http://schemas.openxmlformats.org/officeDocument/2006/relationships/hyperlink" Target="https://t.me/c/1087886629/2164" TargetMode="External"/><Relationship Id="rId9" Type="http://schemas.openxmlformats.org/officeDocument/2006/relationships/hyperlink" Target="https://accelerate.google/intl/en/awards/agencies" TargetMode="External"/><Relationship Id="rId26" Type="http://schemas.openxmlformats.org/officeDocument/2006/relationships/image" Target="../media/image15.png"/><Relationship Id="rId25" Type="http://schemas.openxmlformats.org/officeDocument/2006/relationships/hyperlink" Target="https://www.facebook.com/business/partner-directory/search?solution_type=campaign_management&amp;ref=fmp_about_find_partner_hero_cta&amp;id=2691029654458899&amp;section=overview" TargetMode="External"/><Relationship Id="rId28" Type="http://schemas.openxmlformats.org/officeDocument/2006/relationships/hyperlink" Target="https://focus.ua/uk/ukraine/731985-meta-first-yak-agentstvo-netpeak-stalo-pershim-v-ukrajini-meta-media-certified-i-shcho-ce-oznachaye-dlya-biznesu" TargetMode="External"/><Relationship Id="rId27" Type="http://schemas.openxmlformats.org/officeDocument/2006/relationships/hyperlink" Target="https://focus.ua/uk/ukraine/731985-meta-first-yak-agentstvo-netpeak-stalo-pershim-v-ukrajini-meta-media-certified-i-shcho-ce-oznachaye-dlya-biznesu" TargetMode="External"/><Relationship Id="rId5" Type="http://schemas.openxmlformats.org/officeDocument/2006/relationships/hyperlink" Target="https://t.me/c/1087886629/2164" TargetMode="External"/><Relationship Id="rId6" Type="http://schemas.openxmlformats.org/officeDocument/2006/relationships/hyperlink" Target="https://t.me/c/1087886629/2164" TargetMode="External"/><Relationship Id="rId29" Type="http://schemas.openxmlformats.org/officeDocument/2006/relationships/hyperlink" Target="https://www.credly.com/badges/905383ed-c3eb-41da-9b39-9024f8a14371/public_url" TargetMode="External"/><Relationship Id="rId7" Type="http://schemas.openxmlformats.org/officeDocument/2006/relationships/image" Target="../media/image51.png"/><Relationship Id="rId8" Type="http://schemas.openxmlformats.org/officeDocument/2006/relationships/hyperlink" Target="https://accelerate.google/intl/en/awards/agencies" TargetMode="External"/><Relationship Id="rId31" Type="http://schemas.openxmlformats.org/officeDocument/2006/relationships/hyperlink" Target="https://sellercentral.amazon.com/gspn/provider-details/Account%20Management/070d5d52-391a-4875-82ab-e8453e09e7fa?ref_=sc_spn_blst_bdt-eea64593&amp;localeSelection=en_US&amp;sellFrom=US&amp;sellIn=US" TargetMode="External"/><Relationship Id="rId30" Type="http://schemas.openxmlformats.org/officeDocument/2006/relationships/hyperlink" Target="https://www.credly.com/badges/905383ed-c3eb-41da-9b39-9024f8a14371/public_url" TargetMode="External"/><Relationship Id="rId11" Type="http://schemas.openxmlformats.org/officeDocument/2006/relationships/image" Target="../media/image52.png"/><Relationship Id="rId33" Type="http://schemas.openxmlformats.org/officeDocument/2006/relationships/image" Target="../media/image56.png"/><Relationship Id="rId10" Type="http://schemas.openxmlformats.org/officeDocument/2006/relationships/hyperlink" Target="https://accelerate.google/intl/en/awards/agencies" TargetMode="External"/><Relationship Id="rId32" Type="http://schemas.openxmlformats.org/officeDocument/2006/relationships/hyperlink" Target="https://sellercentral.amazon.com/gspn/provider-details/Account%20Management/070d5d52-391a-4875-82ab-e8453e09e7fa?ref_=sc_spn_blst_bdt-eea64593&amp;localeSelection=en_US&amp;sellFrom=US&amp;sellIn=US" TargetMode="External"/><Relationship Id="rId13" Type="http://schemas.openxmlformats.org/officeDocument/2006/relationships/hyperlink" Target="https://www.google.com/partners/agency?id=6877175886" TargetMode="External"/><Relationship Id="rId35" Type="http://schemas.openxmlformats.org/officeDocument/2006/relationships/image" Target="../media/image55.png"/><Relationship Id="rId12" Type="http://schemas.openxmlformats.org/officeDocument/2006/relationships/hyperlink" Target="https://www.google.com/partners/agency?id=6877175886" TargetMode="External"/><Relationship Id="rId34" Type="http://schemas.openxmlformats.org/officeDocument/2006/relationships/hyperlink" Target="https://sellercentral.amazon.com/gspn/provider-details/Account%20Management/070d5d52-391a-4875-82ab-e8453e09e7fa?ref_=sc_spn_blst_bdt-eea64593&amp;localeSelection=en_US&amp;sellFrom=US&amp;sellIn=US" TargetMode="External"/><Relationship Id="rId15" Type="http://schemas.openxmlformats.org/officeDocument/2006/relationships/hyperlink" Target="https://enterprisemarketingportal.google/find-a-partner/netpeak-ua?partnerNameFilters=netpeak" TargetMode="External"/><Relationship Id="rId14" Type="http://schemas.openxmlformats.org/officeDocument/2006/relationships/image" Target="../media/image10.png"/><Relationship Id="rId17" Type="http://schemas.openxmlformats.org/officeDocument/2006/relationships/image" Target="../media/image45.png"/><Relationship Id="rId16" Type="http://schemas.openxmlformats.org/officeDocument/2006/relationships/hyperlink" Target="https://enterprisemarketingportal.google/find-a-partner/netpeak-ua?partnerNameFilters=netpeak" TargetMode="External"/><Relationship Id="rId19" Type="http://schemas.openxmlformats.org/officeDocument/2006/relationships/hyperlink" Target="https://cloud.google.com/find-a-partner/partner/netpeak" TargetMode="External"/><Relationship Id="rId18" Type="http://schemas.openxmlformats.org/officeDocument/2006/relationships/hyperlink" Target="https://cloud.google.com/find-a-partner/partner/netpeak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5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/>
        </p:nvSpPr>
        <p:spPr>
          <a:xfrm>
            <a:off x="192025" y="1906800"/>
            <a:ext cx="42885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uk-UA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Analytics on Demand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uk-UA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Виділений аналітик на парт-тайм для вашого бізнесу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8" title="Zoom call cover-2.png"/>
          <p:cNvPicPr preferRelativeResize="0"/>
          <p:nvPr/>
        </p:nvPicPr>
        <p:blipFill rotWithShape="1">
          <a:blip r:embed="rId3">
            <a:alphaModFix/>
          </a:blip>
          <a:srcRect b="0" l="0" r="50800" t="0"/>
          <a:stretch/>
        </p:blipFill>
        <p:spPr>
          <a:xfrm>
            <a:off x="4663450" y="0"/>
            <a:ext cx="452572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/>
        </p:nvSpPr>
        <p:spPr>
          <a:xfrm>
            <a:off x="4874163" y="4401953"/>
            <a:ext cx="410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uk-UA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NOTE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uk-UA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information in this document is for the informational and use of the recipient only and must not be disclosed to any third party without the prior written consent of a Netpeak representative.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1490482" y="4596535"/>
            <a:ext cx="204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uk-UA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 дата ]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highlight>
                <a:srgbClr val="EEFF4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192025" y="4596535"/>
            <a:ext cx="129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uk-UA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Valid till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8" title="1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025" y="256737"/>
            <a:ext cx="1151810" cy="2307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28"/>
          <p:cNvGrpSpPr/>
          <p:nvPr/>
        </p:nvGrpSpPr>
        <p:grpSpPr>
          <a:xfrm>
            <a:off x="5122970" y="192023"/>
            <a:ext cx="1734064" cy="621229"/>
            <a:chOff x="3172970" y="185180"/>
            <a:chExt cx="1838100" cy="658500"/>
          </a:xfrm>
        </p:grpSpPr>
        <p:sp>
          <p:nvSpPr>
            <p:cNvPr id="184" name="Google Shape;184;p28">
              <a:hlinkClick r:id="rId5"/>
            </p:cNvPr>
            <p:cNvSpPr/>
            <p:nvPr/>
          </p:nvSpPr>
          <p:spPr>
            <a:xfrm>
              <a:off x="3172970" y="185180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77400" lIns="77400" spcFirstLastPara="1" rIns="77400" wrap="square" tIns="7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5"/>
                <a:buFont typeface="Arial"/>
                <a:buNone/>
              </a:pPr>
              <a:r>
                <a:t/>
              </a:r>
              <a:endParaRPr b="0" i="0" sz="11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8"/>
            <p:cNvSpPr txBox="1"/>
            <p:nvPr/>
          </p:nvSpPr>
          <p:spPr>
            <a:xfrm>
              <a:off x="3267612" y="266539"/>
              <a:ext cx="1648800" cy="9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8"/>
                <a:buFont typeface="Arial"/>
                <a:buNone/>
              </a:pPr>
              <a:r>
                <a:rPr b="1" i="0" lang="uk-UA" sz="60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з 2017</a:t>
              </a:r>
              <a:endParaRPr b="1" i="0" sz="60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8"/>
            <p:cNvSpPr txBox="1"/>
            <p:nvPr/>
          </p:nvSpPr>
          <p:spPr>
            <a:xfrm>
              <a:off x="3267613" y="459282"/>
              <a:ext cx="9630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uk-UA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Google Premier Partner</a:t>
              </a:r>
              <a:endPara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7" name="Google Shape;187;p28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05737" y="266550"/>
              <a:ext cx="515425" cy="515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28"/>
          <p:cNvGrpSpPr/>
          <p:nvPr/>
        </p:nvGrpSpPr>
        <p:grpSpPr>
          <a:xfrm>
            <a:off x="6995654" y="192040"/>
            <a:ext cx="1734064" cy="621229"/>
            <a:chOff x="5146220" y="1665106"/>
            <a:chExt cx="1838100" cy="658500"/>
          </a:xfrm>
        </p:grpSpPr>
        <p:sp>
          <p:nvSpPr>
            <p:cNvPr id="189" name="Google Shape;189;p28">
              <a:hlinkClick r:id="rId8"/>
            </p:cNvPr>
            <p:cNvSpPr/>
            <p:nvPr/>
          </p:nvSpPr>
          <p:spPr>
            <a:xfrm>
              <a:off x="5146220" y="1665106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77400" lIns="77400" spcFirstLastPara="1" rIns="77400" wrap="square" tIns="77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85"/>
                <a:buFont typeface="Arial"/>
                <a:buNone/>
              </a:pPr>
              <a:r>
                <a:t/>
              </a:r>
              <a:endParaRPr b="0" i="0" sz="118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8"/>
            <p:cNvSpPr txBox="1"/>
            <p:nvPr/>
          </p:nvSpPr>
          <p:spPr>
            <a:xfrm>
              <a:off x="5240862" y="1746465"/>
              <a:ext cx="1648800" cy="9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8"/>
                <a:buFont typeface="Arial"/>
                <a:buNone/>
              </a:pPr>
              <a:r>
                <a:rPr b="1" i="0" lang="uk-UA" sz="60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з 2024</a:t>
              </a:r>
              <a:endParaRPr b="1" i="0" sz="60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8"/>
            <p:cNvSpPr txBox="1"/>
            <p:nvPr/>
          </p:nvSpPr>
          <p:spPr>
            <a:xfrm>
              <a:off x="5240863" y="1939209"/>
              <a:ext cx="9630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uk-UA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Directly </a:t>
              </a:r>
              <a:br>
                <a:rPr b="1" i="0" lang="uk-UA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uk-UA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</a:t>
              </a:r>
              <a:endParaRPr b="1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2" name="Google Shape;192;p28" title="image 66.png">
              <a:hlinkClick r:id="rId9"/>
            </p:cNvPr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044500" y="1901876"/>
              <a:ext cx="818099" cy="1849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3" name="Google Shape;193;p28"/>
          <p:cNvPicPr preferRelativeResize="0"/>
          <p:nvPr/>
        </p:nvPicPr>
        <p:blipFill rotWithShape="1">
          <a:blip r:embed="rId11">
            <a:alphaModFix/>
          </a:blip>
          <a:srcRect b="-3907" l="0" r="0" t="0"/>
          <a:stretch/>
        </p:blipFill>
        <p:spPr>
          <a:xfrm>
            <a:off x="4782062" y="1375079"/>
            <a:ext cx="4288502" cy="26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 title="Screenshot_84.png"/>
          <p:cNvPicPr preferRelativeResize="0"/>
          <p:nvPr/>
        </p:nvPicPr>
        <p:blipFill rotWithShape="1">
          <a:blip r:embed="rId12">
            <a:alphaModFix/>
          </a:blip>
          <a:srcRect b="0" l="14769" r="14769" t="0"/>
          <a:stretch/>
        </p:blipFill>
        <p:spPr>
          <a:xfrm>
            <a:off x="5221225" y="1546650"/>
            <a:ext cx="3419274" cy="2137000"/>
          </a:xfrm>
          <a:prstGeom prst="rect">
            <a:avLst/>
          </a:prstGeom>
          <a:noFill/>
          <a:ln cap="flat" cmpd="sng" w="29850">
            <a:solidFill>
              <a:srgbClr val="EEFF4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5" name="Google Shape;195;p28" title="Group 1382076208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494534" y="282271"/>
            <a:ext cx="179658" cy="179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9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РІЗНОМАНІТТЯ АНАЛІТИЧНИХ ЗАДАЧ</a:t>
            </a:r>
            <a:endParaRPr/>
          </a:p>
        </p:txBody>
      </p:sp>
      <p:sp>
        <p:nvSpPr>
          <p:cNvPr id="202" name="Google Shape;202;p29"/>
          <p:cNvSpPr txBox="1"/>
          <p:nvPr/>
        </p:nvSpPr>
        <p:spPr>
          <a:xfrm>
            <a:off x="200000" y="880000"/>
            <a:ext cx="86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uk-UA" sz="12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Задачі є майже на кожному проєкті. Складність — у різноманітті потрібних компетенцій.</a:t>
            </a:r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198000" y="1400000"/>
            <a:ext cx="2000000" cy="470000"/>
          </a:xfrm>
          <a:prstGeom prst="roundRect">
            <a:avLst>
              <a:gd fmla="val 7000" name="adj"/>
            </a:avLst>
          </a:prstGeom>
          <a:solidFill>
            <a:srgbClr val="E3F3FF"/>
          </a:solidFill>
          <a:ln>
            <a:noFill/>
          </a:ln>
        </p:spPr>
        <p:txBody>
          <a:bodyPr anchorCtr="0" anchor="ctr" bIns="20000" lIns="137150" spcFirstLastPara="1" rIns="13715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uk-UA" sz="1050" u="none" cap="none" strike="noStrike">
                <a:solidFill>
                  <a:srgbClr val="22506E"/>
                </a:solidFill>
                <a:latin typeface="Arial"/>
                <a:ea typeface="Arial"/>
                <a:cs typeface="Arial"/>
                <a:sym typeface="Arial"/>
              </a:rPr>
              <a:t>Трекінг web</a:t>
            </a: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2380000" y="1400000"/>
            <a:ext cx="2000000" cy="470000"/>
          </a:xfrm>
          <a:prstGeom prst="roundRect">
            <a:avLst>
              <a:gd fmla="val 7000" name="adj"/>
            </a:avLst>
          </a:prstGeom>
          <a:solidFill>
            <a:srgbClr val="E3F3FF"/>
          </a:solidFill>
          <a:ln>
            <a:noFill/>
          </a:ln>
        </p:spPr>
        <p:txBody>
          <a:bodyPr anchorCtr="0" anchor="ctr" bIns="20000" lIns="137150" spcFirstLastPara="1" rIns="13715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uk-UA" sz="1050" u="none" cap="none" strike="noStrike">
                <a:solidFill>
                  <a:srgbClr val="22506E"/>
                </a:solidFill>
                <a:latin typeface="Arial"/>
                <a:ea typeface="Arial"/>
                <a:cs typeface="Arial"/>
                <a:sym typeface="Arial"/>
              </a:rPr>
              <a:t>Мобільна аналітика</a:t>
            </a:r>
            <a:endParaRPr/>
          </a:p>
        </p:txBody>
      </p:sp>
      <p:sp>
        <p:nvSpPr>
          <p:cNvPr id="205" name="Google Shape;205;p29"/>
          <p:cNvSpPr/>
          <p:nvPr/>
        </p:nvSpPr>
        <p:spPr>
          <a:xfrm>
            <a:off x="4560000" y="1400000"/>
            <a:ext cx="2000000" cy="470000"/>
          </a:xfrm>
          <a:prstGeom prst="roundRect">
            <a:avLst>
              <a:gd fmla="val 7000" name="adj"/>
            </a:avLst>
          </a:prstGeom>
          <a:solidFill>
            <a:srgbClr val="E3F3FF"/>
          </a:solidFill>
          <a:ln>
            <a:noFill/>
          </a:ln>
        </p:spPr>
        <p:txBody>
          <a:bodyPr anchorCtr="0" anchor="ctr" bIns="20000" lIns="137150" spcFirstLastPara="1" rIns="13715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uk-UA" sz="1050" u="none" cap="none" strike="noStrike">
                <a:solidFill>
                  <a:srgbClr val="22506E"/>
                </a:solidFill>
                <a:latin typeface="Arial"/>
                <a:ea typeface="Arial"/>
                <a:cs typeface="Arial"/>
                <a:sym typeface="Arial"/>
              </a:rPr>
              <a:t>Бази даних / SQL</a:t>
            </a:r>
            <a:endParaRPr/>
          </a:p>
        </p:txBody>
      </p:sp>
      <p:sp>
        <p:nvSpPr>
          <p:cNvPr id="206" name="Google Shape;206;p29"/>
          <p:cNvSpPr/>
          <p:nvPr/>
        </p:nvSpPr>
        <p:spPr>
          <a:xfrm>
            <a:off x="6740000" y="1400000"/>
            <a:ext cx="2000000" cy="470000"/>
          </a:xfrm>
          <a:prstGeom prst="roundRect">
            <a:avLst>
              <a:gd fmla="val 7000" name="adj"/>
            </a:avLst>
          </a:prstGeom>
          <a:solidFill>
            <a:srgbClr val="E3F3FF"/>
          </a:solidFill>
          <a:ln>
            <a:noFill/>
          </a:ln>
        </p:spPr>
        <p:txBody>
          <a:bodyPr anchorCtr="0" anchor="ctr" bIns="20000" lIns="137150" spcFirstLastPara="1" rIns="13715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uk-UA" sz="1050" u="none" cap="none" strike="noStrike">
                <a:solidFill>
                  <a:srgbClr val="22506E"/>
                </a:solidFill>
                <a:latin typeface="Arial"/>
                <a:ea typeface="Arial"/>
                <a:cs typeface="Arial"/>
                <a:sym typeface="Arial"/>
              </a:rPr>
              <a:t>Python / JavaScript</a:t>
            </a:r>
            <a:endParaRPr/>
          </a:p>
        </p:txBody>
      </p:sp>
      <p:sp>
        <p:nvSpPr>
          <p:cNvPr id="207" name="Google Shape;207;p29"/>
          <p:cNvSpPr/>
          <p:nvPr/>
        </p:nvSpPr>
        <p:spPr>
          <a:xfrm>
            <a:off x="1392000" y="1990000"/>
            <a:ext cx="2000000" cy="470000"/>
          </a:xfrm>
          <a:prstGeom prst="roundRect">
            <a:avLst>
              <a:gd fmla="val 7000" name="adj"/>
            </a:avLst>
          </a:prstGeom>
          <a:solidFill>
            <a:srgbClr val="E3F3FF"/>
          </a:solidFill>
          <a:ln>
            <a:noFill/>
          </a:ln>
        </p:spPr>
        <p:txBody>
          <a:bodyPr anchorCtr="0" anchor="ctr" bIns="20000" lIns="137150" spcFirstLastPara="1" rIns="13715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uk-UA" sz="1050" u="none" cap="none" strike="noStrike">
                <a:solidFill>
                  <a:srgbClr val="22506E"/>
                </a:solidFill>
                <a:latin typeface="Arial"/>
                <a:ea typeface="Arial"/>
                <a:cs typeface="Arial"/>
                <a:sym typeface="Arial"/>
              </a:rPr>
              <a:t>BI та візуалізація</a:t>
            </a:r>
            <a:endParaRPr/>
          </a:p>
        </p:txBody>
      </p:sp>
      <p:sp>
        <p:nvSpPr>
          <p:cNvPr id="208" name="Google Shape;208;p29"/>
          <p:cNvSpPr/>
          <p:nvPr/>
        </p:nvSpPr>
        <p:spPr>
          <a:xfrm>
            <a:off x="3572000" y="1990000"/>
            <a:ext cx="2000000" cy="470000"/>
          </a:xfrm>
          <a:prstGeom prst="roundRect">
            <a:avLst>
              <a:gd fmla="val 7000" name="adj"/>
            </a:avLst>
          </a:prstGeom>
          <a:solidFill>
            <a:srgbClr val="E3F3FF"/>
          </a:solidFill>
          <a:ln>
            <a:noFill/>
          </a:ln>
        </p:spPr>
        <p:txBody>
          <a:bodyPr anchorCtr="0" anchor="ctr" bIns="20000" lIns="137150" spcFirstLastPara="1" rIns="13715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uk-UA" sz="1050" u="none" cap="none" strike="noStrike">
                <a:solidFill>
                  <a:srgbClr val="22506E"/>
                </a:solidFill>
                <a:latin typeface="Arial"/>
                <a:ea typeface="Arial"/>
                <a:cs typeface="Arial"/>
                <a:sym typeface="Arial"/>
              </a:rPr>
              <a:t>Розуміння бізнесу</a:t>
            </a:r>
            <a:endParaRPr/>
          </a:p>
        </p:txBody>
      </p:sp>
      <p:sp>
        <p:nvSpPr>
          <p:cNvPr id="209" name="Google Shape;209;p29"/>
          <p:cNvSpPr/>
          <p:nvPr/>
        </p:nvSpPr>
        <p:spPr>
          <a:xfrm>
            <a:off x="5752000" y="1990000"/>
            <a:ext cx="2000000" cy="470000"/>
          </a:xfrm>
          <a:prstGeom prst="roundRect">
            <a:avLst>
              <a:gd fmla="val 7000" name="adj"/>
            </a:avLst>
          </a:prstGeom>
          <a:solidFill>
            <a:srgbClr val="E3F3FF"/>
          </a:solidFill>
          <a:ln>
            <a:noFill/>
          </a:ln>
        </p:spPr>
        <p:txBody>
          <a:bodyPr anchorCtr="0" anchor="ctr" bIns="20000" lIns="137150" spcFirstLastPara="1" rIns="137150" wrap="square" tIns="2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uk-UA" sz="1050" u="none" cap="none" strike="noStrike">
                <a:solidFill>
                  <a:srgbClr val="22506E"/>
                </a:solidFill>
                <a:latin typeface="Arial"/>
                <a:ea typeface="Arial"/>
                <a:cs typeface="Arial"/>
                <a:sym typeface="Arial"/>
              </a:rPr>
              <a:t>Розуміння маркетингу</a:t>
            </a:r>
            <a:endParaRPr/>
          </a:p>
        </p:txBody>
      </p:sp>
      <p:sp>
        <p:nvSpPr>
          <p:cNvPr id="210" name="Google Shape;210;p29"/>
          <p:cNvSpPr txBox="1"/>
          <p:nvPr/>
        </p:nvSpPr>
        <p:spPr>
          <a:xfrm>
            <a:off x="198000" y="2720000"/>
            <a:ext cx="8752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uk-UA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Одну людину, що глибоко покриває все це, </a:t>
            </a:r>
            <a:r>
              <a:rPr b="1" i="0" lang="uk-UA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важко знайти й дорого втримати in-house</a:t>
            </a:r>
            <a:r>
              <a:rPr b="0" i="0" lang="uk-UA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, а суміжникам бракує потрібної глибини.</a:t>
            </a:r>
            <a:endParaRPr/>
          </a:p>
        </p:txBody>
      </p:sp>
      <p:sp>
        <p:nvSpPr>
          <p:cNvPr id="211" name="Google Shape;211;p29"/>
          <p:cNvSpPr/>
          <p:nvPr/>
        </p:nvSpPr>
        <p:spPr>
          <a:xfrm>
            <a:off x="198000" y="3580000"/>
            <a:ext cx="8752000" cy="1120000"/>
          </a:xfrm>
          <a:prstGeom prst="roundRect">
            <a:avLst>
              <a:gd fmla="val 7000" name="adj"/>
            </a:avLst>
          </a:prstGeom>
          <a:solidFill>
            <a:srgbClr val="5BACEA"/>
          </a:solidFill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uk-UA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Перевага агенції — досвід із багатьох проєктів</a:t>
            </a:r>
            <a:endParaRPr/>
          </a:p>
          <a:p>
            <a:pPr indent="0" lvl="0" marL="0" marR="0" rtl="0" algn="ctr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uk-UA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Ми бачимо різні задачі на десятках проєктів, знаємо типові проблеми й рішення — і навчаємо спеціаліста саме під потреби вашого проєкту.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0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ПЕРЕВАГИ ПАРТ-ТАЙМ АНАЛІТИКИ</a:t>
            </a:r>
            <a:endParaRPr/>
          </a:p>
        </p:txBody>
      </p:sp>
      <p:sp>
        <p:nvSpPr>
          <p:cNvPr id="218" name="Google Shape;218;p30"/>
          <p:cNvSpPr txBox="1"/>
          <p:nvPr/>
        </p:nvSpPr>
        <p:spPr>
          <a:xfrm>
            <a:off x="200000" y="860000"/>
            <a:ext cx="8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uk-UA" sz="12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Виділений аналітик без турбот і ризиків in-house найму</a:t>
            </a:r>
            <a:endParaRPr/>
          </a:p>
        </p:txBody>
      </p:sp>
      <p:sp>
        <p:nvSpPr>
          <p:cNvPr id="219" name="Google Shape;219;p30"/>
          <p:cNvSpPr/>
          <p:nvPr/>
        </p:nvSpPr>
        <p:spPr>
          <a:xfrm>
            <a:off x="198000" y="1320000"/>
            <a:ext cx="2718000" cy="160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uk-UA" sz="1100" u="none" cap="none" strike="noStrike">
                <a:solidFill>
                  <a:srgbClr val="FF5223"/>
                </a:solidFill>
                <a:latin typeface="Arial"/>
                <a:ea typeface="Arial"/>
                <a:cs typeface="Arial"/>
                <a:sym typeface="Arial"/>
              </a:rPr>
              <a:t>01   </a:t>
            </a:r>
            <a:r>
              <a:rPr b="1" i="0" lang="uk-UA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Команда й процеси — на нас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Пошук, навчання, заміну та менеджмент спеціаліста беремо на себе</a:t>
            </a:r>
            <a:endParaRPr/>
          </a:p>
        </p:txBody>
      </p:sp>
      <p:sp>
        <p:nvSpPr>
          <p:cNvPr id="220" name="Google Shape;220;p30"/>
          <p:cNvSpPr/>
          <p:nvPr/>
        </p:nvSpPr>
        <p:spPr>
          <a:xfrm>
            <a:off x="3113000" y="1320000"/>
            <a:ext cx="2718000" cy="160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uk-UA" sz="1100" u="none" cap="none" strike="noStrike">
                <a:solidFill>
                  <a:srgbClr val="FF5223"/>
                </a:solidFill>
                <a:latin typeface="Arial"/>
                <a:ea typeface="Arial"/>
                <a:cs typeface="Arial"/>
                <a:sym typeface="Arial"/>
              </a:rPr>
              <a:t>02   </a:t>
            </a:r>
            <a:r>
              <a:rPr b="1" i="0" lang="uk-UA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Контрольований бюджет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Фіксовані години під пакет: вартість відома наперед, темп обираєте ви</a:t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>
            <a:off x="6028000" y="1320000"/>
            <a:ext cx="2718000" cy="160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uk-UA" sz="1100" u="none" cap="none" strike="noStrike">
                <a:solidFill>
                  <a:srgbClr val="FF5223"/>
                </a:solidFill>
                <a:latin typeface="Arial"/>
                <a:ea typeface="Arial"/>
                <a:cs typeface="Arial"/>
                <a:sym typeface="Arial"/>
              </a:rPr>
              <a:t>03   </a:t>
            </a:r>
            <a:r>
              <a:rPr b="1" i="0" lang="uk-UA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Оплата лише за потрібний обсяг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Платите за обраний пакет годин, а не за повну ставку штатного фахівця</a:t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198000" y="3140000"/>
            <a:ext cx="2718000" cy="160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uk-UA" sz="1100" u="none" cap="none" strike="noStrike">
                <a:solidFill>
                  <a:srgbClr val="FF5223"/>
                </a:solidFill>
                <a:latin typeface="Arial"/>
                <a:ea typeface="Arial"/>
                <a:cs typeface="Arial"/>
                <a:sym typeface="Arial"/>
              </a:rPr>
              <a:t>04   </a:t>
            </a:r>
            <a:r>
              <a:rPr b="1" i="0" lang="uk-UA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Гнучкість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Змінюйте пакет і пріоритети щомісяця, без довгих контрактів</a:t>
            </a:r>
            <a:endParaRPr/>
          </a:p>
        </p:txBody>
      </p:sp>
      <p:sp>
        <p:nvSpPr>
          <p:cNvPr id="223" name="Google Shape;223;p30"/>
          <p:cNvSpPr/>
          <p:nvPr/>
        </p:nvSpPr>
        <p:spPr>
          <a:xfrm>
            <a:off x="3113000" y="3140000"/>
            <a:ext cx="2718000" cy="160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uk-UA" sz="1100" u="none" cap="none" strike="noStrike">
                <a:solidFill>
                  <a:srgbClr val="FF5223"/>
                </a:solidFill>
                <a:latin typeface="Arial"/>
                <a:ea typeface="Arial"/>
                <a:cs typeface="Arial"/>
                <a:sym typeface="Arial"/>
              </a:rPr>
              <a:t>05   </a:t>
            </a:r>
            <a:r>
              <a:rPr b="1" i="0" lang="uk-UA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Широка експертиза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Команда під різні задачі, а не одна людина, що вміє все потроху</a:t>
            </a:r>
            <a:endParaRPr/>
          </a:p>
        </p:txBody>
      </p:sp>
      <p:sp>
        <p:nvSpPr>
          <p:cNvPr id="224" name="Google Shape;224;p30"/>
          <p:cNvSpPr/>
          <p:nvPr/>
        </p:nvSpPr>
        <p:spPr>
          <a:xfrm>
            <a:off x="6028000" y="3140000"/>
            <a:ext cx="2718000" cy="160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uk-UA" sz="1100" u="none" cap="none" strike="noStrike">
                <a:solidFill>
                  <a:srgbClr val="FF5223"/>
                </a:solidFill>
                <a:latin typeface="Arial"/>
                <a:ea typeface="Arial"/>
                <a:cs typeface="Arial"/>
                <a:sym typeface="Arial"/>
              </a:rPr>
              <a:t>06   </a:t>
            </a:r>
            <a:r>
              <a:rPr b="1" i="0" lang="uk-UA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Швидкий старт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Спеціаліст стартує одразу — без місяців на пошук і онбординг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/>
        </p:nvSpPr>
        <p:spPr>
          <a:xfrm>
            <a:off x="192025" y="1906800"/>
            <a:ext cx="42885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uk-UA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 ПОСЛУГУ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31" title="Zoom call cover-2.png"/>
          <p:cNvPicPr preferRelativeResize="0"/>
          <p:nvPr/>
        </p:nvPicPr>
        <p:blipFill rotWithShape="1">
          <a:blip r:embed="rId3">
            <a:alphaModFix/>
          </a:blip>
          <a:srcRect b="0" l="0" r="50800" t="0"/>
          <a:stretch/>
        </p:blipFill>
        <p:spPr>
          <a:xfrm>
            <a:off x="4663450" y="0"/>
            <a:ext cx="4525727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1" title="1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728" y="242880"/>
            <a:ext cx="921640" cy="184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2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2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ВИДІЛЕНИЙ СПЕЦІАЛІСТ</a:t>
            </a:r>
            <a:endParaRPr/>
          </a:p>
        </p:txBody>
      </p:sp>
      <p:sp>
        <p:nvSpPr>
          <p:cNvPr id="238" name="Google Shape;238;p32"/>
          <p:cNvSpPr txBox="1"/>
          <p:nvPr/>
        </p:nvSpPr>
        <p:spPr>
          <a:xfrm>
            <a:off x="3250000" y="1400000"/>
            <a:ext cx="5500000" cy="1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uk-UA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Один аналітик закріплений за вашим проєктом. Він занурюється у ваш бізнес, знає вашу аналітичну архітектуру та інструменти — і однаково добре реалізує планові ініціативи й ad-hoc запити.</a:t>
            </a:r>
            <a:endParaRPr/>
          </a:p>
        </p:txBody>
      </p:sp>
      <p:sp>
        <p:nvSpPr>
          <p:cNvPr id="239" name="Google Shape;239;p32"/>
          <p:cNvSpPr txBox="1"/>
          <p:nvPr/>
        </p:nvSpPr>
        <p:spPr>
          <a:xfrm>
            <a:off x="3250000" y="3150000"/>
            <a:ext cx="5500000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ACEA"/>
              </a:buClr>
              <a:buSzPts val="1150"/>
              <a:buFont typeface="Arial"/>
              <a:buChar char="•"/>
            </a:pPr>
            <a:r>
              <a:rPr b="0" i="0" lang="uk-UA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Глибоке розуміння вашого бізнесу</a:t>
            </a:r>
            <a:endParaRPr/>
          </a:p>
          <a:p>
            <a:pPr indent="-228600" lvl="0" marL="228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5BACEA"/>
              </a:buClr>
              <a:buSzPts val="1150"/>
              <a:buFont typeface="Arial"/>
              <a:buChar char="•"/>
            </a:pPr>
            <a:r>
              <a:rPr b="0" i="0" lang="uk-UA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Знання ваших інструментів та аналітичної архітектури</a:t>
            </a:r>
            <a:endParaRPr/>
          </a:p>
          <a:p>
            <a:pPr indent="-228600" lvl="0" marL="228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5BACEA"/>
              </a:buClr>
              <a:buSzPts val="1150"/>
              <a:buFont typeface="Arial"/>
              <a:buChar char="•"/>
            </a:pPr>
            <a:r>
              <a:rPr b="0" i="0" lang="uk-UA" sz="11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Один і той самий спеціаліст від місяця до місяця — послідовність і глибина</a:t>
            </a:r>
            <a:endParaRPr/>
          </a:p>
        </p:txBody>
      </p:sp>
      <p:pic>
        <p:nvPicPr>
          <p:cNvPr id="240" name="Google Shape;24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950" y="1292950"/>
            <a:ext cx="2557600" cy="25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3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3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РЕЗЕРВ І ПІДТРИМКА</a:t>
            </a:r>
            <a:endParaRPr/>
          </a:p>
        </p:txBody>
      </p:sp>
      <p:sp>
        <p:nvSpPr>
          <p:cNvPr id="247" name="Google Shape;247;p33"/>
          <p:cNvSpPr txBox="1"/>
          <p:nvPr/>
        </p:nvSpPr>
        <p:spPr>
          <a:xfrm>
            <a:off x="198000" y="1120000"/>
            <a:ext cx="8550000" cy="7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uk-UA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На вашому проєкті завжди щонайменше двоє. Коли основний спеціаліст у відпустці чи на лікарняному — його безшовно замінює резервний.</a:t>
            </a:r>
            <a:endParaRPr/>
          </a:p>
        </p:txBody>
      </p:sp>
      <p:sp>
        <p:nvSpPr>
          <p:cNvPr id="248" name="Google Shape;248;p33"/>
          <p:cNvSpPr/>
          <p:nvPr/>
        </p:nvSpPr>
        <p:spPr>
          <a:xfrm>
            <a:off x="2600000" y="2150000"/>
            <a:ext cx="3900000" cy="560000"/>
          </a:xfrm>
          <a:prstGeom prst="roundRect">
            <a:avLst>
              <a:gd fmla="val 7000" name="adj"/>
            </a:avLst>
          </a:prstGeom>
          <a:solidFill>
            <a:srgbClr val="5BACEA"/>
          </a:solidFill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uk-UA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ТЕХЛІД — контроль якості та оптимізація процесів</a:t>
            </a:r>
            <a:endParaRPr/>
          </a:p>
        </p:txBody>
      </p:sp>
      <p:cxnSp>
        <p:nvCxnSpPr>
          <p:cNvPr id="249" name="Google Shape;249;p33"/>
          <p:cNvCxnSpPr/>
          <p:nvPr/>
        </p:nvCxnSpPr>
        <p:spPr>
          <a:xfrm>
            <a:off x="4550000" y="2710000"/>
            <a:ext cx="0" cy="150000"/>
          </a:xfrm>
          <a:prstGeom prst="straightConnector1">
            <a:avLst/>
          </a:prstGeom>
          <a:noFill/>
          <a:ln cap="flat" cmpd="sng" w="15875">
            <a:solidFill>
              <a:srgbClr val="9AA0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33"/>
          <p:cNvCxnSpPr/>
          <p:nvPr/>
        </p:nvCxnSpPr>
        <p:spPr>
          <a:xfrm>
            <a:off x="2950000" y="2860000"/>
            <a:ext cx="3250000" cy="0"/>
          </a:xfrm>
          <a:prstGeom prst="straightConnector1">
            <a:avLst/>
          </a:prstGeom>
          <a:noFill/>
          <a:ln cap="flat" cmpd="sng" w="15875">
            <a:solidFill>
              <a:srgbClr val="9AA0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33"/>
          <p:cNvCxnSpPr/>
          <p:nvPr/>
        </p:nvCxnSpPr>
        <p:spPr>
          <a:xfrm>
            <a:off x="2950000" y="2860000"/>
            <a:ext cx="0" cy="290000"/>
          </a:xfrm>
          <a:prstGeom prst="straightConnector1">
            <a:avLst/>
          </a:prstGeom>
          <a:noFill/>
          <a:ln cap="flat" cmpd="sng" w="15875">
            <a:solidFill>
              <a:srgbClr val="9AA0A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33"/>
          <p:cNvCxnSpPr/>
          <p:nvPr/>
        </p:nvCxnSpPr>
        <p:spPr>
          <a:xfrm>
            <a:off x="6200000" y="2860000"/>
            <a:ext cx="0" cy="290000"/>
          </a:xfrm>
          <a:prstGeom prst="straightConnector1">
            <a:avLst/>
          </a:prstGeom>
          <a:noFill/>
          <a:ln cap="flat" cmpd="sng" w="15875">
            <a:solidFill>
              <a:srgbClr val="9AA0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33"/>
          <p:cNvSpPr/>
          <p:nvPr/>
        </p:nvSpPr>
        <p:spPr>
          <a:xfrm>
            <a:off x="1500000" y="3150000"/>
            <a:ext cx="2900000" cy="76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uk-UA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ОСНОВНИЙ СПЕЦІАЛІСТ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uk-UA" sz="95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веде ваш проєкт щодня</a:t>
            </a:r>
            <a:endParaRPr/>
          </a:p>
        </p:txBody>
      </p:sp>
      <p:sp>
        <p:nvSpPr>
          <p:cNvPr id="254" name="Google Shape;254;p33"/>
          <p:cNvSpPr/>
          <p:nvPr/>
        </p:nvSpPr>
        <p:spPr>
          <a:xfrm>
            <a:off x="4750000" y="3150000"/>
            <a:ext cx="2900000" cy="760000"/>
          </a:xfrm>
          <a:prstGeom prst="roundRect">
            <a:avLst>
              <a:gd fmla="val 7000" name="adj"/>
            </a:avLst>
          </a:prstGeom>
          <a:solidFill>
            <a:srgbClr val="E3F3FF"/>
          </a:solidFill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uk-UA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РЕЗЕРВНИЙ СПЕЦІАЛІСТ (BACKUP)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uk-UA" sz="95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завжди в курсі проєкту</a:t>
            </a:r>
            <a:endParaRPr/>
          </a:p>
        </p:txBody>
      </p:sp>
      <p:sp>
        <p:nvSpPr>
          <p:cNvPr id="255" name="Google Shape;255;p33"/>
          <p:cNvSpPr txBox="1"/>
          <p:nvPr/>
        </p:nvSpPr>
        <p:spPr>
          <a:xfrm>
            <a:off x="198000" y="4250000"/>
            <a:ext cx="85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uk-UA" sz="105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Проджект-менеджер забезпечує своєчасність виконання задач, а налагоджені процеси — стабільну якість.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4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4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РИТМ РОБОТИ</a:t>
            </a:r>
            <a:endParaRPr/>
          </a:p>
        </p:txBody>
      </p:sp>
      <p:sp>
        <p:nvSpPr>
          <p:cNvPr id="262" name="Google Shape;262;p34"/>
          <p:cNvSpPr txBox="1"/>
          <p:nvPr/>
        </p:nvSpPr>
        <p:spPr>
          <a:xfrm>
            <a:off x="198000" y="1120000"/>
            <a:ext cx="855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uk-UA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Прозорий і передбачуваний ритм співпраці — ви завжди в курсі статусу та пріоритетів.</a:t>
            </a:r>
            <a:endParaRPr/>
          </a:p>
        </p:txBody>
      </p:sp>
      <p:cxnSp>
        <p:nvCxnSpPr>
          <p:cNvPr id="263" name="Google Shape;263;p34"/>
          <p:cNvCxnSpPr/>
          <p:nvPr/>
        </p:nvCxnSpPr>
        <p:spPr>
          <a:xfrm>
            <a:off x="750000" y="3050000"/>
            <a:ext cx="7650000" cy="0"/>
          </a:xfrm>
          <a:prstGeom prst="straightConnector1">
            <a:avLst/>
          </a:prstGeom>
          <a:noFill/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34"/>
          <p:cNvSpPr/>
          <p:nvPr/>
        </p:nvSpPr>
        <p:spPr>
          <a:xfrm>
            <a:off x="1055000" y="2955000"/>
            <a:ext cx="190000" cy="190000"/>
          </a:xfrm>
          <a:prstGeom prst="ellipse">
            <a:avLst/>
          </a:prstGeom>
          <a:solidFill>
            <a:srgbClr val="5BAC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4"/>
          <p:cNvSpPr/>
          <p:nvPr/>
        </p:nvSpPr>
        <p:spPr>
          <a:xfrm>
            <a:off x="4305000" y="2955000"/>
            <a:ext cx="190000" cy="190000"/>
          </a:xfrm>
          <a:prstGeom prst="ellipse">
            <a:avLst/>
          </a:prstGeom>
          <a:solidFill>
            <a:srgbClr val="5BAC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7855000" y="2955000"/>
            <a:ext cx="190000" cy="190000"/>
          </a:xfrm>
          <a:prstGeom prst="ellipse">
            <a:avLst/>
          </a:prstGeom>
          <a:solidFill>
            <a:srgbClr val="5BAC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600000" y="2150000"/>
            <a:ext cx="2400000" cy="7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uk-UA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СТАРТ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uk-UA" sz="105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Складаємо дорожню карту робіт</a:t>
            </a:r>
            <a:endParaRPr/>
          </a:p>
        </p:txBody>
      </p:sp>
      <p:sp>
        <p:nvSpPr>
          <p:cNvPr id="268" name="Google Shape;268;p34"/>
          <p:cNvSpPr txBox="1"/>
          <p:nvPr/>
        </p:nvSpPr>
        <p:spPr>
          <a:xfrm>
            <a:off x="3300000" y="3300000"/>
            <a:ext cx="2400000" cy="7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uk-UA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ЩОТИЖНЯ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uk-UA" sz="105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Синк: статус, питання, ваш фідбек</a:t>
            </a:r>
            <a:endParaRPr/>
          </a:p>
        </p:txBody>
      </p:sp>
      <p:sp>
        <p:nvSpPr>
          <p:cNvPr id="269" name="Google Shape;269;p34"/>
          <p:cNvSpPr txBox="1"/>
          <p:nvPr/>
        </p:nvSpPr>
        <p:spPr>
          <a:xfrm>
            <a:off x="6750000" y="2150000"/>
            <a:ext cx="2200000" cy="7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uk-UA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ЩОМІСЯЦЯ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uk-UA" sz="105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Review та переплан пріоритетів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5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5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ПРОАКТИВНІСТЬ</a:t>
            </a:r>
            <a:endParaRPr/>
          </a:p>
        </p:txBody>
      </p:sp>
      <p:sp>
        <p:nvSpPr>
          <p:cNvPr id="276" name="Google Shape;276;p35"/>
          <p:cNvSpPr txBox="1"/>
          <p:nvPr/>
        </p:nvSpPr>
        <p:spPr>
          <a:xfrm>
            <a:off x="198000" y="1150000"/>
            <a:ext cx="12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uk-UA" sz="7000" u="none" cap="none" strike="noStrike">
                <a:solidFill>
                  <a:srgbClr val="FF5223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77" name="Google Shape;277;p35"/>
          <p:cNvSpPr txBox="1"/>
          <p:nvPr/>
        </p:nvSpPr>
        <p:spPr>
          <a:xfrm>
            <a:off x="760000" y="1650000"/>
            <a:ext cx="7600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uk-UA" sz="24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Спеціаліст не просто виконує задачі — він першим пропонує, що можна покращити.</a:t>
            </a:r>
            <a:endParaRPr/>
          </a:p>
        </p:txBody>
      </p:sp>
      <p:sp>
        <p:nvSpPr>
          <p:cNvPr id="278" name="Google Shape;278;p35"/>
          <p:cNvSpPr txBox="1"/>
          <p:nvPr/>
        </p:nvSpPr>
        <p:spPr>
          <a:xfrm>
            <a:off x="198000" y="3450000"/>
            <a:ext cx="855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uk-UA" sz="13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Він у курсі вашого проєкту й досвіду інших команд: бачить можливості, радить best-practices і бере ініціативу на себе.</a:t>
            </a:r>
            <a:endParaRPr/>
          </a:p>
        </p:txBody>
      </p:sp>
      <p:sp>
        <p:nvSpPr>
          <p:cNvPr id="279" name="Google Shape;279;p35"/>
          <p:cNvSpPr txBox="1"/>
          <p:nvPr/>
        </p:nvSpPr>
        <p:spPr>
          <a:xfrm>
            <a:off x="198000" y="4400000"/>
            <a:ext cx="855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uk-UA" sz="11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Наприклад, порекомендує Meta Conversion API ще до того, як ви про це спитаєте.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6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6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СПЕКТР ПОСЛУГ</a:t>
            </a:r>
            <a:endParaRPr/>
          </a:p>
        </p:txBody>
      </p:sp>
      <p:sp>
        <p:nvSpPr>
          <p:cNvPr id="286" name="Google Shape;286;p36"/>
          <p:cNvSpPr txBox="1"/>
          <p:nvPr/>
        </p:nvSpPr>
        <p:spPr>
          <a:xfrm>
            <a:off x="198000" y="1200000"/>
            <a:ext cx="42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uk-UA" sz="13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WEB-АНАЛІТИКА</a:t>
            </a:r>
            <a:endParaRPr/>
          </a:p>
        </p:txBody>
      </p:sp>
      <p:sp>
        <p:nvSpPr>
          <p:cNvPr id="287" name="Google Shape;287;p36"/>
          <p:cNvSpPr txBox="1"/>
          <p:nvPr/>
        </p:nvSpPr>
        <p:spPr>
          <a:xfrm>
            <a:off x="198000" y="1630000"/>
            <a:ext cx="4230000" cy="1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0000" lvl="0" marL="2100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Аудит і налаштування GA4, GTM, Pixel Meta, TikTok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35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Server-Side GTM, перенос тегів на сервер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35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Consent Mode та Enhanced Conversions</a:t>
            </a:r>
            <a:endParaRPr/>
          </a:p>
        </p:txBody>
      </p:sp>
      <p:sp>
        <p:nvSpPr>
          <p:cNvPr id="288" name="Google Shape;288;p36"/>
          <p:cNvSpPr txBox="1"/>
          <p:nvPr/>
        </p:nvSpPr>
        <p:spPr>
          <a:xfrm>
            <a:off x="4720000" y="1200000"/>
            <a:ext cx="42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uk-UA" sz="13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MOBILE ТА КОНВЕРСІЇ</a:t>
            </a:r>
            <a:endParaRPr/>
          </a:p>
        </p:txBody>
      </p:sp>
      <p:sp>
        <p:nvSpPr>
          <p:cNvPr id="289" name="Google Shape;289;p36"/>
          <p:cNvSpPr txBox="1"/>
          <p:nvPr/>
        </p:nvSpPr>
        <p:spPr>
          <a:xfrm>
            <a:off x="4720000" y="1630000"/>
            <a:ext cx="4230000" cy="1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0000" lvl="0" marL="2100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Мобільна аналітика: Firebase, AppsFlyer, Adjust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35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Підготовка та перевірка технічних завдань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35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Відправка конверсій у Meta та Google Ads</a:t>
            </a:r>
            <a:endParaRPr/>
          </a:p>
        </p:txBody>
      </p:sp>
      <p:sp>
        <p:nvSpPr>
          <p:cNvPr id="290" name="Google Shape;290;p36"/>
          <p:cNvSpPr txBox="1"/>
          <p:nvPr/>
        </p:nvSpPr>
        <p:spPr>
          <a:xfrm>
            <a:off x="198000" y="3230000"/>
            <a:ext cx="42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uk-UA" sz="13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ДАНІ ТА BIGQUERY</a:t>
            </a:r>
            <a:endParaRPr/>
          </a:p>
        </p:txBody>
      </p:sp>
      <p:sp>
        <p:nvSpPr>
          <p:cNvPr id="291" name="Google Shape;291;p36"/>
          <p:cNvSpPr txBox="1"/>
          <p:nvPr/>
        </p:nvSpPr>
        <p:spPr>
          <a:xfrm>
            <a:off x="198000" y="3660000"/>
            <a:ext cx="4230000" cy="1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0000" lvl="0" marL="2100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Конектори для вивантаження даних у BigQuery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35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Створення й оптимізація таблиць BigQuery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35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Моніторинг та оптимізація витрат на BI</a:t>
            </a:r>
            <a:endParaRPr/>
          </a:p>
        </p:txBody>
      </p:sp>
      <p:sp>
        <p:nvSpPr>
          <p:cNvPr id="292" name="Google Shape;292;p36"/>
          <p:cNvSpPr txBox="1"/>
          <p:nvPr/>
        </p:nvSpPr>
        <p:spPr>
          <a:xfrm>
            <a:off x="4720000" y="3230000"/>
            <a:ext cx="42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uk-UA" sz="13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BI ТА КОНСАЛТИНГ</a:t>
            </a:r>
            <a:endParaRPr/>
          </a:p>
        </p:txBody>
      </p:sp>
      <p:sp>
        <p:nvSpPr>
          <p:cNvPr id="293" name="Google Shape;293;p36"/>
          <p:cNvSpPr txBox="1"/>
          <p:nvPr/>
        </p:nvSpPr>
        <p:spPr>
          <a:xfrm>
            <a:off x="4720000" y="3660000"/>
            <a:ext cx="4230000" cy="1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0000" lvl="0" marL="2100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BI-звіти та внесення правок у наявні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35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Система алертів і дайджестів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350"/>
              </a:spcBef>
              <a:spcAft>
                <a:spcPts val="0"/>
              </a:spcAft>
              <a:buClr>
                <a:srgbClr val="5BACEA"/>
              </a:buClr>
              <a:buSzPts val="1050"/>
              <a:buFont typeface="Arial"/>
              <a:buChar char="•"/>
            </a:pPr>
            <a:r>
              <a:rPr b="0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Продуктовий аналіз, консалтинг і навчання команди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7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МОДЕЛЬ СПІВПРАЦІ</a:t>
            </a:r>
            <a:endParaRPr/>
          </a:p>
        </p:txBody>
      </p:sp>
      <p:sp>
        <p:nvSpPr>
          <p:cNvPr id="300" name="Google Shape;300;p37"/>
          <p:cNvSpPr txBox="1"/>
          <p:nvPr/>
        </p:nvSpPr>
        <p:spPr>
          <a:xfrm>
            <a:off x="200000" y="860000"/>
            <a:ext cx="86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uk-UA" sz="12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Аналітик завжди відпрацьовує години пакета — оплачений час не простоює</a:t>
            </a:r>
            <a:endParaRPr/>
          </a:p>
        </p:txBody>
      </p:sp>
      <p:sp>
        <p:nvSpPr>
          <p:cNvPr id="301" name="Google Shape;301;p37"/>
          <p:cNvSpPr txBox="1"/>
          <p:nvPr/>
        </p:nvSpPr>
        <p:spPr>
          <a:xfrm>
            <a:off x="198000" y="1240000"/>
            <a:ext cx="8752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Обираєте пакет і термін</a:t>
            </a:r>
            <a:r>
              <a:rPr b="1" i="0" lang="uk-UA" sz="105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     →     </a:t>
            </a:r>
            <a:r>
              <a:rPr b="1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Підбираємо виділеного спеціаліста</a:t>
            </a:r>
            <a:r>
              <a:rPr b="1" i="0" lang="uk-UA" sz="105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     →     </a:t>
            </a:r>
            <a:r>
              <a:rPr b="1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Складаємо дорожню карту робіт</a:t>
            </a:r>
            <a:endParaRPr/>
          </a:p>
        </p:txBody>
      </p:sp>
      <p:sp>
        <p:nvSpPr>
          <p:cNvPr id="302" name="Google Shape;302;p37"/>
          <p:cNvSpPr/>
          <p:nvPr/>
        </p:nvSpPr>
        <p:spPr>
          <a:xfrm>
            <a:off x="198000" y="1650000"/>
            <a:ext cx="4230000" cy="123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uk-UA" sz="1150" u="none" cap="none" strike="noStrike">
                <a:solidFill>
                  <a:srgbClr val="FF5223"/>
                </a:solidFill>
                <a:latin typeface="Arial"/>
                <a:ea typeface="Arial"/>
                <a:cs typeface="Arial"/>
                <a:sym typeface="Arial"/>
              </a:rPr>
              <a:t>1   </a:t>
            </a:r>
            <a:r>
              <a:rPr b="1" i="0" lang="uk-UA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Є беклог задач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320"/>
              </a:spcBef>
              <a:spcAft>
                <a:spcPts val="0"/>
              </a:spcAft>
              <a:buClr>
                <a:srgbClr val="5BACEA"/>
              </a:buClr>
              <a:buSzPts val="1030"/>
              <a:buFont typeface="Arial"/>
              <a:buChar char="•"/>
            </a:pPr>
            <a:r>
              <a:rPr b="0" i="0" lang="uk-UA" sz="103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Беремо задачі в роботу й оцінюємо кожну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260"/>
              </a:spcBef>
              <a:spcAft>
                <a:spcPts val="0"/>
              </a:spcAft>
              <a:buClr>
                <a:srgbClr val="5BACEA"/>
              </a:buClr>
              <a:buSzPts val="1030"/>
              <a:buFont typeface="Arial"/>
              <a:buChar char="•"/>
            </a:pPr>
            <a:r>
              <a:rPr b="0" i="0" lang="uk-UA" sz="103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Складаємо план за вашими пріоритетами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260"/>
              </a:spcBef>
              <a:spcAft>
                <a:spcPts val="0"/>
              </a:spcAft>
              <a:buClr>
                <a:srgbClr val="5BACEA"/>
              </a:buClr>
              <a:buSzPts val="1030"/>
              <a:buFont typeface="Arial"/>
              <a:buChar char="•"/>
            </a:pPr>
            <a:r>
              <a:rPr b="0" i="0" lang="uk-UA" sz="103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Термінові задачі — одразу в роботу</a:t>
            </a:r>
            <a:endParaRPr/>
          </a:p>
        </p:txBody>
      </p:sp>
      <p:sp>
        <p:nvSpPr>
          <p:cNvPr id="303" name="Google Shape;303;p37"/>
          <p:cNvSpPr/>
          <p:nvPr/>
        </p:nvSpPr>
        <p:spPr>
          <a:xfrm>
            <a:off x="4720000" y="1650000"/>
            <a:ext cx="4230000" cy="1230000"/>
          </a:xfrm>
          <a:prstGeom prst="roundRect">
            <a:avLst>
              <a:gd fmla="val 7000" name="adj"/>
            </a:avLst>
          </a:prstGeom>
          <a:solidFill>
            <a:srgbClr val="E3F3FF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uk-UA" sz="1150" u="none" cap="none" strike="noStrike">
                <a:solidFill>
                  <a:srgbClr val="FF5223"/>
                </a:solidFill>
                <a:latin typeface="Arial"/>
                <a:ea typeface="Arial"/>
                <a:cs typeface="Arial"/>
                <a:sym typeface="Arial"/>
              </a:rPr>
              <a:t>2   </a:t>
            </a:r>
            <a:r>
              <a:rPr b="1" i="0" lang="uk-UA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Плану ще немає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320"/>
              </a:spcBef>
              <a:spcAft>
                <a:spcPts val="0"/>
              </a:spcAft>
              <a:buClr>
                <a:srgbClr val="5BACEA"/>
              </a:buClr>
              <a:buSzPts val="1030"/>
              <a:buFont typeface="Arial"/>
              <a:buChar char="•"/>
            </a:pPr>
            <a:r>
              <a:rPr b="0" i="0" lang="uk-UA" sz="103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Перший місяць — аудит ваших систем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260"/>
              </a:spcBef>
              <a:spcAft>
                <a:spcPts val="0"/>
              </a:spcAft>
              <a:buClr>
                <a:srgbClr val="5BACEA"/>
              </a:buClr>
              <a:buSzPts val="1030"/>
              <a:buFont typeface="Arial"/>
              <a:buChar char="•"/>
            </a:pPr>
            <a:r>
              <a:rPr b="0" i="0" lang="uk-UA" sz="103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За результатами самі складаємо план робіт</a:t>
            </a:r>
            <a:endParaRPr/>
          </a:p>
          <a:p>
            <a:pPr indent="-210000" lvl="0" marL="210000" marR="0" rtl="0" algn="l">
              <a:lnSpc>
                <a:spcPct val="106000"/>
              </a:lnSpc>
              <a:spcBef>
                <a:spcPts val="260"/>
              </a:spcBef>
              <a:spcAft>
                <a:spcPts val="0"/>
              </a:spcAft>
              <a:buClr>
                <a:srgbClr val="5BACEA"/>
              </a:buClr>
              <a:buSzPts val="1030"/>
              <a:buFont typeface="Arial"/>
              <a:buChar char="•"/>
            </a:pPr>
            <a:r>
              <a:rPr b="0" i="0" lang="uk-UA" sz="103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З вами узгоджуємо лише пріоритети</a:t>
            </a:r>
            <a:endParaRPr/>
          </a:p>
        </p:txBody>
      </p:sp>
      <p:sp>
        <p:nvSpPr>
          <p:cNvPr id="304" name="Google Shape;304;p37"/>
          <p:cNvSpPr/>
          <p:nvPr/>
        </p:nvSpPr>
        <p:spPr>
          <a:xfrm>
            <a:off x="198000" y="3010000"/>
            <a:ext cx="8752000" cy="54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uk-UA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Пріоритети переглядаємо щомісяця:  </a:t>
            </a:r>
            <a:r>
              <a:rPr b="0" i="0" lang="uk-UA" sz="10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термінові задачі беремо одразу — планові трохи зсуваються, нетермінові узгоджуємо за чергою.</a:t>
            </a:r>
            <a:endParaRPr/>
          </a:p>
        </p:txBody>
      </p:sp>
      <p:sp>
        <p:nvSpPr>
          <p:cNvPr id="305" name="Google Shape;305;p37"/>
          <p:cNvSpPr/>
          <p:nvPr/>
        </p:nvSpPr>
        <p:spPr>
          <a:xfrm>
            <a:off x="198000" y="3670000"/>
            <a:ext cx="8752000" cy="540000"/>
          </a:xfrm>
          <a:prstGeom prst="roundRect">
            <a:avLst>
              <a:gd fmla="val 7000" name="adj"/>
            </a:avLst>
          </a:prstGeom>
          <a:solidFill>
            <a:srgbClr val="5BACEA"/>
          </a:solidFill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uk-UA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Так години пакета завжди в роботі — ви отримуєте максимум від виділеного аналітика</a:t>
            </a:r>
            <a:endParaRPr/>
          </a:p>
        </p:txBody>
      </p:sp>
      <p:sp>
        <p:nvSpPr>
          <p:cNvPr id="306" name="Google Shape;306;p37">
            <a:hlinkClick r:id="rId4"/>
          </p:cNvPr>
          <p:cNvSpPr/>
          <p:nvPr/>
        </p:nvSpPr>
        <p:spPr>
          <a:xfrm>
            <a:off x="2372000" y="4360000"/>
            <a:ext cx="4400000" cy="4500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9050">
            <a:solidFill>
              <a:srgbClr val="5BA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uk-UA" sz="11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Приклад плану робіт на 6 місяців   →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/>
        </p:nvSpPr>
        <p:spPr>
          <a:xfrm>
            <a:off x="192025" y="1906800"/>
            <a:ext cx="42885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uk-UA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ВАРТІСТЬ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38" title="Zoom call cover-2.png"/>
          <p:cNvPicPr preferRelativeResize="0"/>
          <p:nvPr/>
        </p:nvPicPr>
        <p:blipFill rotWithShape="1">
          <a:blip r:embed="rId3">
            <a:alphaModFix/>
          </a:blip>
          <a:srcRect b="0" l="0" r="50800" t="0"/>
          <a:stretch/>
        </p:blipFill>
        <p:spPr>
          <a:xfrm>
            <a:off x="4663450" y="0"/>
            <a:ext cx="4525727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8" title="1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728" y="242880"/>
            <a:ext cx="921640" cy="184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39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9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ВАРТІСТЬ ПАКЕТІВ</a:t>
            </a:r>
            <a:endParaRPr/>
          </a:p>
        </p:txBody>
      </p:sp>
      <p:sp>
        <p:nvSpPr>
          <p:cNvPr id="320" name="Google Shape;320;p39"/>
          <p:cNvSpPr txBox="1"/>
          <p:nvPr/>
        </p:nvSpPr>
        <p:spPr>
          <a:xfrm>
            <a:off x="200000" y="860000"/>
            <a:ext cx="86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uk-UA" sz="11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Однакове наповнення — відрізняється обсягом годин і ціною за термін співпраці (ціна — $ / міс)</a:t>
            </a:r>
            <a:endParaRPr/>
          </a:p>
        </p:txBody>
      </p:sp>
      <p:graphicFrame>
        <p:nvGraphicFramePr>
          <p:cNvPr id="321" name="Google Shape;321;p39"/>
          <p:cNvGraphicFramePr/>
          <p:nvPr/>
        </p:nvGraphicFramePr>
        <p:xfrm>
          <a:off x="198000" y="133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{9FE679B0-DD89-435B-87A1-20EA3FF29BAF}</a:tableStyleId>
              </a:tblPr>
              <a:tblGrid>
                <a:gridCol w="2100000"/>
                <a:gridCol w="1600000"/>
                <a:gridCol w="1600000"/>
                <a:gridCol w="1600000"/>
                <a:gridCol w="1600000"/>
              </a:tblGrid>
              <a:tr h="47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uk-UA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КОМПАКТНИЙ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AC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uk-UA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СЕРЕДНІЙ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AC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uk-UA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ОПТИМАЛЬНИЙ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AC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uk-UA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МАКСИМАЛЬНИЙ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ACE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Годин / міс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uk-UA" sz="11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uk-UA" sz="11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uk-UA" sz="11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uk-UA" sz="11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місяць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$700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$1 400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$2 100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$2 800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місяці · –5%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$665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$1 330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$1 995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$2 660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місяців · –10%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$630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$1 260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$1 890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$2 520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місяців · –15%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uk-UA" sz="1000" u="none" cap="none" strike="noStrike">
                          <a:solidFill>
                            <a:srgbClr val="FF52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$595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uk-UA" sz="1000" u="none" cap="none" strike="noStrike">
                          <a:solidFill>
                            <a:srgbClr val="FF52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$1 190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uk-UA" sz="1000" u="none" cap="none" strike="noStrike">
                          <a:solidFill>
                            <a:srgbClr val="FF52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$1 785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uk-UA" sz="1000" u="none" cap="none" strike="noStrike">
                          <a:solidFill>
                            <a:srgbClr val="FF52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$2 380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EE8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uk-UA" sz="10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Кому підходить</a:t>
                      </a:r>
                      <a:endParaRPr/>
                    </a:p>
                  </a:txBody>
                  <a:tcPr marT="45725" marB="45725" marR="82000" marL="118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Невеликі проєкти,</a:t>
                      </a:r>
                      <a:b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підтримка наявної</a:t>
                      </a:r>
                      <a:b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аналітики</a:t>
                      </a:r>
                      <a:endParaRPr/>
                    </a:p>
                  </a:txBody>
                  <a:tcPr marT="45725" marB="45725" marR="82000" marL="118000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Активний розвиток:</a:t>
                      </a:r>
                      <a:b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кілька ініціатив</a:t>
                      </a:r>
                      <a:b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паралельно</a:t>
                      </a:r>
                      <a:endParaRPr/>
                    </a:p>
                  </a:txBody>
                  <a:tcPr marT="45725" marB="45725" marR="82000" marL="118000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Масштабні задачі,</a:t>
                      </a:r>
                      <a:b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швидкий темп</a:t>
                      </a:r>
                      <a:b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впровадження</a:t>
                      </a:r>
                      <a:endParaRPr/>
                    </a:p>
                  </a:txBody>
                  <a:tcPr marT="45725" marB="45725" marR="82000" marL="118000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Максимальний темп</a:t>
                      </a:r>
                      <a:b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і обсяг (пакет</a:t>
                      </a:r>
                      <a:b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lang="uk-UA" sz="850" u="none" cap="none" strike="noStrike">
                          <a:solidFill>
                            <a:srgbClr val="6E6E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клієнта з кейсу)</a:t>
                      </a:r>
                      <a:endParaRPr/>
                    </a:p>
                  </a:txBody>
                  <a:tcPr marT="45725" marB="45725" marR="82000" marL="118000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2" name="Google Shape;322;p39"/>
          <p:cNvSpPr txBox="1"/>
          <p:nvPr/>
        </p:nvSpPr>
        <p:spPr>
          <a:xfrm>
            <a:off x="198000" y="4520000"/>
            <a:ext cx="87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uk-UA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Усі пакети включають:  </a:t>
            </a:r>
            <a:r>
              <a:rPr b="0" i="0" lang="uk-UA" sz="1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виділений аналітик + backup-спеціаліст · щотижневі синки та щомісячний review · контроль якості · проактивні рекомендації.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uk-UA" sz="9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Знижка на вартість години — лише в пакетній моделі. Ціни без ПДВ.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КЕЙС: ПРОВІДНИЙ FASHION-РІТЕЙЛЕР</a:t>
            </a:r>
            <a:endParaRPr/>
          </a:p>
        </p:txBody>
      </p:sp>
      <p:sp>
        <p:nvSpPr>
          <p:cNvPr id="329" name="Google Shape;329;p40"/>
          <p:cNvSpPr txBox="1"/>
          <p:nvPr/>
        </p:nvSpPr>
        <p:spPr>
          <a:xfrm>
            <a:off x="200000" y="860000"/>
            <a:ext cx="86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uk-UA" sz="12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Компанія з власною аналітичною командою та Head of Analytics · пакет «Максимальний» · 2024–2026</a:t>
            </a:r>
            <a:endParaRPr/>
          </a:p>
        </p:txBody>
      </p:sp>
      <p:pic>
        <p:nvPicPr>
          <p:cNvPr id="330" name="Google Shape;33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000" y="1150000"/>
            <a:ext cx="210000" cy="2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0"/>
          <p:cNvSpPr txBox="1"/>
          <p:nvPr/>
        </p:nvSpPr>
        <p:spPr>
          <a:xfrm>
            <a:off x="198000" y="1420000"/>
            <a:ext cx="213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uk-UA" sz="22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  <p:sp>
        <p:nvSpPr>
          <p:cNvPr id="332" name="Google Shape;332;p40"/>
          <p:cNvSpPr txBox="1"/>
          <p:nvPr/>
        </p:nvSpPr>
        <p:spPr>
          <a:xfrm>
            <a:off x="198000" y="1930000"/>
            <a:ext cx="21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місяці співпраці</a:t>
            </a:r>
            <a:endParaRPr/>
          </a:p>
        </p:txBody>
      </p:sp>
      <p:pic>
        <p:nvPicPr>
          <p:cNvPr id="333" name="Google Shape;33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0000" y="1150000"/>
            <a:ext cx="210000" cy="2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/>
          <p:nvPr/>
        </p:nvSpPr>
        <p:spPr>
          <a:xfrm>
            <a:off x="2380000" y="1420000"/>
            <a:ext cx="213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uk-UA" sz="22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1 066</a:t>
            </a:r>
            <a:endParaRPr/>
          </a:p>
        </p:txBody>
      </p:sp>
      <p:sp>
        <p:nvSpPr>
          <p:cNvPr id="335" name="Google Shape;335;p40"/>
          <p:cNvSpPr txBox="1"/>
          <p:nvPr/>
        </p:nvSpPr>
        <p:spPr>
          <a:xfrm>
            <a:off x="2380000" y="1930000"/>
            <a:ext cx="21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задач делеговано</a:t>
            </a:r>
            <a:endParaRPr/>
          </a:p>
        </p:txBody>
      </p:sp>
      <p:pic>
        <p:nvPicPr>
          <p:cNvPr id="336" name="Google Shape;33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0000" y="1150000"/>
            <a:ext cx="210000" cy="2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0"/>
          <p:cNvSpPr txBox="1"/>
          <p:nvPr/>
        </p:nvSpPr>
        <p:spPr>
          <a:xfrm>
            <a:off x="4560000" y="1420000"/>
            <a:ext cx="213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uk-UA" sz="22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1 477</a:t>
            </a:r>
            <a:endParaRPr/>
          </a:p>
        </p:txBody>
      </p:sp>
      <p:sp>
        <p:nvSpPr>
          <p:cNvPr id="338" name="Google Shape;338;p40"/>
          <p:cNvSpPr txBox="1"/>
          <p:nvPr/>
        </p:nvSpPr>
        <p:spPr>
          <a:xfrm>
            <a:off x="4560000" y="1930000"/>
            <a:ext cx="21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годин роботи</a:t>
            </a:r>
            <a:endParaRPr/>
          </a:p>
        </p:txBody>
      </p:sp>
      <p:pic>
        <p:nvPicPr>
          <p:cNvPr id="339" name="Google Shape;33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0000" y="1150000"/>
            <a:ext cx="210000" cy="2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0"/>
          <p:cNvSpPr txBox="1"/>
          <p:nvPr/>
        </p:nvSpPr>
        <p:spPr>
          <a:xfrm>
            <a:off x="6740000" y="1420000"/>
            <a:ext cx="213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uk-UA" sz="22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341" name="Google Shape;341;p40"/>
          <p:cNvSpPr txBox="1"/>
          <p:nvPr/>
        </p:nvSpPr>
        <p:spPr>
          <a:xfrm>
            <a:off x="6740000" y="1930000"/>
            <a:ext cx="213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напрямів аналітики</a:t>
            </a:r>
            <a:endParaRPr/>
          </a:p>
        </p:txBody>
      </p:sp>
      <p:sp>
        <p:nvSpPr>
          <p:cNvPr id="342" name="Google Shape;342;p40"/>
          <p:cNvSpPr/>
          <p:nvPr/>
        </p:nvSpPr>
        <p:spPr>
          <a:xfrm>
            <a:off x="198000" y="2280000"/>
            <a:ext cx="8752000" cy="560000"/>
          </a:xfrm>
          <a:prstGeom prst="roundRect">
            <a:avLst>
              <a:gd fmla="val 7000" name="adj"/>
            </a:avLst>
          </a:prstGeom>
          <a:solidFill>
            <a:srgbClr val="EAF4FC"/>
          </a:solidFill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uk-UA" sz="1100" u="none" cap="none" strike="noStrike">
                <a:solidFill>
                  <a:srgbClr val="22506E"/>
                </a:solidFill>
                <a:latin typeface="Arial"/>
                <a:ea typeface="Arial"/>
                <a:cs typeface="Arial"/>
                <a:sym typeface="Arial"/>
              </a:rPr>
              <a:t>Як нас використовують:  </a:t>
            </a:r>
            <a:r>
              <a:rPr b="0" i="0" lang="uk-UA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дослідницькі задачі · задачі від підрядників (UX/UI) · консультації · складна технічна робота — гнучкі руки поряд із власною командою.</a:t>
            </a:r>
            <a:endParaRPr/>
          </a:p>
        </p:txBody>
      </p:sp>
      <p:sp>
        <p:nvSpPr>
          <p:cNvPr id="343" name="Google Shape;343;p40"/>
          <p:cNvSpPr txBox="1"/>
          <p:nvPr/>
        </p:nvSpPr>
        <p:spPr>
          <a:xfrm>
            <a:off x="2222000" y="2930000"/>
            <a:ext cx="47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uk-UA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Розподіл делегованих робіт по місяцях (частка від 100%)</a:t>
            </a:r>
            <a:endParaRPr/>
          </a:p>
        </p:txBody>
      </p:sp>
      <p:pic>
        <p:nvPicPr>
          <p:cNvPr id="344" name="Google Shape;344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2000" y="3160000"/>
            <a:ext cx="4700000" cy="196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41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1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ЩО МИ ЗРОБИЛИ ЗА ЦЕЙ ЧАС</a:t>
            </a:r>
            <a:endParaRPr/>
          </a:p>
        </p:txBody>
      </p:sp>
      <p:sp>
        <p:nvSpPr>
          <p:cNvPr id="351" name="Google Shape;351;p41"/>
          <p:cNvSpPr txBox="1"/>
          <p:nvPr/>
        </p:nvSpPr>
        <p:spPr>
          <a:xfrm>
            <a:off x="200000" y="860000"/>
            <a:ext cx="8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uk-UA" sz="12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Приклади задач, які делегує клієнт поряд із роботою власної команди — від досліджень до складної технічної роботи</a:t>
            </a:r>
            <a:endParaRPr/>
          </a:p>
        </p:txBody>
      </p:sp>
      <p:sp>
        <p:nvSpPr>
          <p:cNvPr id="352" name="Google Shape;352;p41"/>
          <p:cNvSpPr/>
          <p:nvPr/>
        </p:nvSpPr>
        <p:spPr>
          <a:xfrm>
            <a:off x="198000" y="1300000"/>
            <a:ext cx="2718000" cy="164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uk-UA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Джерела трафіку для застосунку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uk-UA" sz="94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Виправили облік джерел трафіку мобільного застосунку — коректні organic / non-organic та робота з обмеженнями приватності iOS.</a:t>
            </a:r>
            <a:endParaRPr/>
          </a:p>
        </p:txBody>
      </p:sp>
      <p:sp>
        <p:nvSpPr>
          <p:cNvPr id="353" name="Google Shape;353;p41"/>
          <p:cNvSpPr/>
          <p:nvPr/>
        </p:nvSpPr>
        <p:spPr>
          <a:xfrm>
            <a:off x="3113000" y="1300000"/>
            <a:ext cx="2718000" cy="164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uk-UA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Аудит подій на 3 платформах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uk-UA" sz="94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Провели аудит e-commerce подій на web, Android та iOS, знайшли зламані події на старих версіях і привели трекінг до єдиної логіки.</a:t>
            </a:r>
            <a:endParaRPr/>
          </a:p>
        </p:txBody>
      </p:sp>
      <p:sp>
        <p:nvSpPr>
          <p:cNvPr id="354" name="Google Shape;354;p41"/>
          <p:cNvSpPr/>
          <p:nvPr/>
        </p:nvSpPr>
        <p:spPr>
          <a:xfrm>
            <a:off x="6028000" y="1300000"/>
            <a:ext cx="2718000" cy="164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uk-UA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Надійна модель атрибуції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uk-UA" sz="94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Побудували автоматизовану модель атрибуції — точніший розподіл внеску каналів у продажі.</a:t>
            </a:r>
            <a:endParaRPr/>
          </a:p>
        </p:txBody>
      </p:sp>
      <p:sp>
        <p:nvSpPr>
          <p:cNvPr id="355" name="Google Shape;355;p41"/>
          <p:cNvSpPr/>
          <p:nvPr/>
        </p:nvSpPr>
        <p:spPr>
          <a:xfrm>
            <a:off x="198000" y="3170000"/>
            <a:ext cx="2718000" cy="164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uk-UA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Конектори та інтеграції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uk-UA" sz="94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Розробили й модернізували конектори (AppsFlyer, Criteo та інші) у BigQuery та звірили коректність транзакцій між системами.</a:t>
            </a:r>
            <a:endParaRPr/>
          </a:p>
        </p:txBody>
      </p:sp>
      <p:sp>
        <p:nvSpPr>
          <p:cNvPr id="356" name="Google Shape;356;p41"/>
          <p:cNvSpPr/>
          <p:nvPr/>
        </p:nvSpPr>
        <p:spPr>
          <a:xfrm>
            <a:off x="3113000" y="3170000"/>
            <a:ext cx="2718000" cy="164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uk-UA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Лад у даних BigQuery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uk-UA" sz="94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Навели порядок у даних: коректні унікальні користувачі, повторні покупці й чисті дані для звітності.</a:t>
            </a:r>
            <a:endParaRPr/>
          </a:p>
        </p:txBody>
      </p:sp>
      <p:sp>
        <p:nvSpPr>
          <p:cNvPr id="357" name="Google Shape;357;p41"/>
          <p:cNvSpPr/>
          <p:nvPr/>
        </p:nvSpPr>
        <p:spPr>
          <a:xfrm>
            <a:off x="6028000" y="3170000"/>
            <a:ext cx="2718000" cy="1640000"/>
          </a:xfrm>
          <a:prstGeom prst="roundRect">
            <a:avLst>
              <a:gd fmla="val 7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137150" spcFirstLastPara="1" rIns="137150" wrap="square" tIns="91425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uk-UA" sz="12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BI-звіти та дашборди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38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uk-UA" sz="94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Побудували продуктовий дашборд і воронки, метрики ефективності джерел трафіку; виправили розрахунки конверсії.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42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2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ЩО ЦЕ ДАЄ БІЗНЕСУ</a:t>
            </a:r>
            <a:endParaRPr/>
          </a:p>
        </p:txBody>
      </p:sp>
      <p:sp>
        <p:nvSpPr>
          <p:cNvPr id="364" name="Google Shape;364;p42"/>
          <p:cNvSpPr txBox="1"/>
          <p:nvPr/>
        </p:nvSpPr>
        <p:spPr>
          <a:xfrm>
            <a:off x="200000" y="860000"/>
            <a:ext cx="8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uk-UA" sz="12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Технічна робота аналітика — це не самоціль, а прямий вплив на рішення й бюджет</a:t>
            </a:r>
            <a:endParaRPr/>
          </a:p>
        </p:txBody>
      </p:sp>
      <p:graphicFrame>
        <p:nvGraphicFramePr>
          <p:cNvPr id="365" name="Google Shape;365;p42"/>
          <p:cNvGraphicFramePr/>
          <p:nvPr/>
        </p:nvGraphicFramePr>
        <p:xfrm>
          <a:off x="198000" y="13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{9FE679B0-DD89-435B-87A1-20EA3FF29BAF}</a:tableStyleId>
              </a:tblPr>
              <a:tblGrid>
                <a:gridCol w="4230000"/>
                <a:gridCol w="4520000"/>
              </a:tblGrid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uk-UA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Що ми робимо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AC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uk-UA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Що отримує бізнес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ACE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uk-UA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Коректний трекінг і атрибуція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uk-UA" sz="1050" u="none" cap="none" strike="noStrike">
                          <a:solidFill>
                            <a:srgbClr val="2250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  Ефективніший розподіл рекламного бюджету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uk-UA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Якісні конверсії в Meta та Google Ads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uk-UA" sz="1050" u="none" cap="none" strike="noStrike">
                          <a:solidFill>
                            <a:srgbClr val="2250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  Кращі результати Smart Bidding, менше втрат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uk-UA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Наскрізна аналітика (web + застосунок + джерела)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uk-UA" sz="1050" u="none" cap="none" strike="noStrike">
                          <a:solidFill>
                            <a:srgbClr val="2250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  Повна картина замість розрізнених даних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uk-UA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BI-звіти та дашборди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uk-UA" sz="1050" u="none" cap="none" strike="noStrike">
                          <a:solidFill>
                            <a:srgbClr val="2250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  Швидші й впевненіші рішення на основі даних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uk-UA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Алерти та автоматизація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uk-UA" sz="1050" u="none" cap="none" strike="noStrike">
                          <a:solidFill>
                            <a:srgbClr val="2250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  Проблеми видно одразу, а не в кінці місяця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uk-UA" sz="105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Виділений аналітик через агенцію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uk-UA" sz="1050" u="none" cap="none" strike="noStrike">
                          <a:solidFill>
                            <a:srgbClr val="22506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→  Senior-експертиза без витрат на in-house</a:t>
                      </a:r>
                      <a:endParaRPr/>
                    </a:p>
                  </a:txBody>
                  <a:tcPr marT="27000" marB="27000" marR="110000" marL="150000" anchor="ctr">
                    <a:lnL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3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718602" y="192025"/>
            <a:ext cx="230751" cy="23075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3"/>
          <p:cNvSpPr txBox="1"/>
          <p:nvPr/>
        </p:nvSpPr>
        <p:spPr>
          <a:xfrm>
            <a:off x="198000" y="300000"/>
            <a:ext cx="83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uk-UA" sz="3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НАСТУПНІ КРОКИ</a:t>
            </a:r>
            <a:endParaRPr/>
          </a:p>
        </p:txBody>
      </p:sp>
      <p:sp>
        <p:nvSpPr>
          <p:cNvPr id="372" name="Google Shape;372;p43"/>
          <p:cNvSpPr txBox="1"/>
          <p:nvPr/>
        </p:nvSpPr>
        <p:spPr>
          <a:xfrm>
            <a:off x="200000" y="860000"/>
            <a:ext cx="8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uk-UA" sz="12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Від узгодження до старту — за кілька днів</a:t>
            </a:r>
            <a:endParaRPr/>
          </a:p>
        </p:txBody>
      </p:sp>
      <p:cxnSp>
        <p:nvCxnSpPr>
          <p:cNvPr id="373" name="Google Shape;373;p43"/>
          <p:cNvCxnSpPr/>
          <p:nvPr/>
        </p:nvCxnSpPr>
        <p:spPr>
          <a:xfrm>
            <a:off x="1234400" y="2150000"/>
            <a:ext cx="6675200" cy="0"/>
          </a:xfrm>
          <a:prstGeom prst="straightConnector1">
            <a:avLst/>
          </a:prstGeom>
          <a:noFill/>
          <a:ln cap="flat" cmpd="sng" w="19050">
            <a:solidFill>
              <a:srgbClr val="C9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43"/>
          <p:cNvSpPr txBox="1"/>
          <p:nvPr/>
        </p:nvSpPr>
        <p:spPr>
          <a:xfrm>
            <a:off x="414400" y="1560000"/>
            <a:ext cx="16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uk-UA" sz="800" u="none" cap="none" strike="noStrike">
                <a:solidFill>
                  <a:srgbClr val="FF5223"/>
                </a:solidFill>
                <a:latin typeface="Arial"/>
                <a:ea typeface="Arial"/>
                <a:cs typeface="Arial"/>
                <a:sym typeface="Arial"/>
              </a:rPr>
              <a:t>З ВАШОГО БОКУ</a:t>
            </a:r>
            <a:endParaRPr/>
          </a:p>
        </p:txBody>
      </p:sp>
      <p:sp>
        <p:nvSpPr>
          <p:cNvPr id="375" name="Google Shape;375;p43"/>
          <p:cNvSpPr/>
          <p:nvPr/>
        </p:nvSpPr>
        <p:spPr>
          <a:xfrm>
            <a:off x="954400" y="1870000"/>
            <a:ext cx="560000" cy="560000"/>
          </a:xfrm>
          <a:prstGeom prst="ellipse">
            <a:avLst/>
          </a:prstGeom>
          <a:solidFill>
            <a:srgbClr val="FF522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uk-UA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76" name="Google Shape;376;p43"/>
          <p:cNvSpPr txBox="1"/>
          <p:nvPr/>
        </p:nvSpPr>
        <p:spPr>
          <a:xfrm>
            <a:off x="414400" y="2520000"/>
            <a:ext cx="164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uk-UA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Узгодження КП</a:t>
            </a:r>
            <a:endParaRPr/>
          </a:p>
        </p:txBody>
      </p:sp>
      <p:sp>
        <p:nvSpPr>
          <p:cNvPr id="377" name="Google Shape;377;p43"/>
          <p:cNvSpPr txBox="1"/>
          <p:nvPr/>
        </p:nvSpPr>
        <p:spPr>
          <a:xfrm>
            <a:off x="414400" y="2840000"/>
            <a:ext cx="164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uk-UA" sz="94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Розглядаєте та узгоджуєте пропозицію</a:t>
            </a:r>
            <a:endParaRPr/>
          </a:p>
        </p:txBody>
      </p:sp>
      <p:sp>
        <p:nvSpPr>
          <p:cNvPr id="378" name="Google Shape;378;p43"/>
          <p:cNvSpPr txBox="1"/>
          <p:nvPr/>
        </p:nvSpPr>
        <p:spPr>
          <a:xfrm>
            <a:off x="2083200" y="1560000"/>
            <a:ext cx="16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uk-UA" sz="8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З НАШОГО БОКУ</a:t>
            </a:r>
            <a:endParaRPr/>
          </a:p>
        </p:txBody>
      </p:sp>
      <p:sp>
        <p:nvSpPr>
          <p:cNvPr id="379" name="Google Shape;379;p43"/>
          <p:cNvSpPr/>
          <p:nvPr/>
        </p:nvSpPr>
        <p:spPr>
          <a:xfrm>
            <a:off x="2623200" y="1870000"/>
            <a:ext cx="560000" cy="560000"/>
          </a:xfrm>
          <a:prstGeom prst="ellipse">
            <a:avLst/>
          </a:prstGeom>
          <a:solidFill>
            <a:srgbClr val="5BAC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uk-UA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80" name="Google Shape;380;p43"/>
          <p:cNvSpPr txBox="1"/>
          <p:nvPr/>
        </p:nvSpPr>
        <p:spPr>
          <a:xfrm>
            <a:off x="2083200" y="2520000"/>
            <a:ext cx="164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uk-UA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Адаптація</a:t>
            </a:r>
            <a:endParaRPr/>
          </a:p>
        </p:txBody>
      </p:sp>
      <p:sp>
        <p:nvSpPr>
          <p:cNvPr id="381" name="Google Shape;381;p43"/>
          <p:cNvSpPr txBox="1"/>
          <p:nvPr/>
        </p:nvSpPr>
        <p:spPr>
          <a:xfrm>
            <a:off x="2083200" y="2840000"/>
            <a:ext cx="164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uk-UA" sz="94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Відповідаємо на питання, адаптуємо пропозицію під вас</a:t>
            </a:r>
            <a:endParaRPr/>
          </a:p>
        </p:txBody>
      </p:sp>
      <p:sp>
        <p:nvSpPr>
          <p:cNvPr id="382" name="Google Shape;382;p43"/>
          <p:cNvSpPr txBox="1"/>
          <p:nvPr/>
        </p:nvSpPr>
        <p:spPr>
          <a:xfrm>
            <a:off x="3752000" y="1560000"/>
            <a:ext cx="16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uk-UA" sz="800" u="none" cap="none" strike="noStrike">
                <a:solidFill>
                  <a:srgbClr val="FF5223"/>
                </a:solidFill>
                <a:latin typeface="Arial"/>
                <a:ea typeface="Arial"/>
                <a:cs typeface="Arial"/>
                <a:sym typeface="Arial"/>
              </a:rPr>
              <a:t>З ВАШОГО БОКУ</a:t>
            </a:r>
            <a:endParaRPr/>
          </a:p>
        </p:txBody>
      </p:sp>
      <p:sp>
        <p:nvSpPr>
          <p:cNvPr id="383" name="Google Shape;383;p43"/>
          <p:cNvSpPr/>
          <p:nvPr/>
        </p:nvSpPr>
        <p:spPr>
          <a:xfrm>
            <a:off x="4292000" y="1870000"/>
            <a:ext cx="560000" cy="560000"/>
          </a:xfrm>
          <a:prstGeom prst="ellipse">
            <a:avLst/>
          </a:prstGeom>
          <a:solidFill>
            <a:srgbClr val="FF522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uk-UA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84" name="Google Shape;384;p43"/>
          <p:cNvSpPr txBox="1"/>
          <p:nvPr/>
        </p:nvSpPr>
        <p:spPr>
          <a:xfrm>
            <a:off x="3752000" y="2520000"/>
            <a:ext cx="164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uk-UA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Договір і оплата</a:t>
            </a:r>
            <a:endParaRPr/>
          </a:p>
        </p:txBody>
      </p:sp>
      <p:sp>
        <p:nvSpPr>
          <p:cNvPr id="385" name="Google Shape;385;p43"/>
          <p:cNvSpPr txBox="1"/>
          <p:nvPr/>
        </p:nvSpPr>
        <p:spPr>
          <a:xfrm>
            <a:off x="3752000" y="2840000"/>
            <a:ext cx="164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uk-UA" sz="94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Обираєте пакет, спосіб оплати та форму договору</a:t>
            </a:r>
            <a:endParaRPr/>
          </a:p>
        </p:txBody>
      </p:sp>
      <p:sp>
        <p:nvSpPr>
          <p:cNvPr id="386" name="Google Shape;386;p43"/>
          <p:cNvSpPr txBox="1"/>
          <p:nvPr/>
        </p:nvSpPr>
        <p:spPr>
          <a:xfrm>
            <a:off x="5420800" y="1560000"/>
            <a:ext cx="16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uk-UA" sz="8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З НАШОГО БОКУ</a:t>
            </a:r>
            <a:endParaRPr/>
          </a:p>
        </p:txBody>
      </p:sp>
      <p:sp>
        <p:nvSpPr>
          <p:cNvPr id="387" name="Google Shape;387;p43"/>
          <p:cNvSpPr/>
          <p:nvPr/>
        </p:nvSpPr>
        <p:spPr>
          <a:xfrm>
            <a:off x="5960800" y="1870000"/>
            <a:ext cx="560000" cy="560000"/>
          </a:xfrm>
          <a:prstGeom prst="ellipse">
            <a:avLst/>
          </a:prstGeom>
          <a:solidFill>
            <a:srgbClr val="5BAC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uk-UA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88" name="Google Shape;388;p43"/>
          <p:cNvSpPr txBox="1"/>
          <p:nvPr/>
        </p:nvSpPr>
        <p:spPr>
          <a:xfrm>
            <a:off x="5420800" y="2520000"/>
            <a:ext cx="164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uk-UA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Старт</a:t>
            </a:r>
            <a:endParaRPr/>
          </a:p>
        </p:txBody>
      </p:sp>
      <p:sp>
        <p:nvSpPr>
          <p:cNvPr id="389" name="Google Shape;389;p43"/>
          <p:cNvSpPr txBox="1"/>
          <p:nvPr/>
        </p:nvSpPr>
        <p:spPr>
          <a:xfrm>
            <a:off x="5420800" y="2840000"/>
            <a:ext cx="164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uk-UA" sz="94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Підбираємо аналітика й складаємо дорожню карту (або аудит у 1-й місяць)</a:t>
            </a:r>
            <a:endParaRPr/>
          </a:p>
        </p:txBody>
      </p:sp>
      <p:sp>
        <p:nvSpPr>
          <p:cNvPr id="390" name="Google Shape;390;p43"/>
          <p:cNvSpPr txBox="1"/>
          <p:nvPr/>
        </p:nvSpPr>
        <p:spPr>
          <a:xfrm>
            <a:off x="7089600" y="1560000"/>
            <a:ext cx="16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uk-UA" sz="800" u="none" cap="none" strike="noStrike">
                <a:solidFill>
                  <a:srgbClr val="5BACEA"/>
                </a:solidFill>
                <a:latin typeface="Arial"/>
                <a:ea typeface="Arial"/>
                <a:cs typeface="Arial"/>
                <a:sym typeface="Arial"/>
              </a:rPr>
              <a:t>РАЗОМ</a:t>
            </a:r>
            <a:endParaRPr/>
          </a:p>
        </p:txBody>
      </p:sp>
      <p:sp>
        <p:nvSpPr>
          <p:cNvPr id="391" name="Google Shape;391;p43"/>
          <p:cNvSpPr/>
          <p:nvPr/>
        </p:nvSpPr>
        <p:spPr>
          <a:xfrm>
            <a:off x="7629600" y="1870000"/>
            <a:ext cx="560000" cy="560000"/>
          </a:xfrm>
          <a:prstGeom prst="ellipse">
            <a:avLst/>
          </a:prstGeom>
          <a:solidFill>
            <a:srgbClr val="5BAC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uk-UA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92" name="Google Shape;392;p43"/>
          <p:cNvSpPr txBox="1"/>
          <p:nvPr/>
        </p:nvSpPr>
        <p:spPr>
          <a:xfrm>
            <a:off x="7089600" y="2520000"/>
            <a:ext cx="164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uk-UA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Реалізація</a:t>
            </a:r>
            <a:endParaRPr/>
          </a:p>
        </p:txBody>
      </p:sp>
      <p:sp>
        <p:nvSpPr>
          <p:cNvPr id="393" name="Google Shape;393;p43"/>
          <p:cNvSpPr txBox="1"/>
          <p:nvPr/>
        </p:nvSpPr>
        <p:spPr>
          <a:xfrm>
            <a:off x="7089600" y="2840000"/>
            <a:ext cx="1640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9"/>
              <a:buFont typeface="Arial"/>
              <a:buNone/>
            </a:pPr>
            <a:r>
              <a:rPr b="0" i="0" lang="uk-UA" sz="94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Щотижневі синки та щомісячний перегляд пріоритетів</a:t>
            </a:r>
            <a:endParaRPr/>
          </a:p>
        </p:txBody>
      </p:sp>
      <p:sp>
        <p:nvSpPr>
          <p:cNvPr id="394" name="Google Shape;394;p43"/>
          <p:cNvSpPr/>
          <p:nvPr/>
        </p:nvSpPr>
        <p:spPr>
          <a:xfrm>
            <a:off x="198000" y="4360000"/>
            <a:ext cx="8752000" cy="540000"/>
          </a:xfrm>
          <a:prstGeom prst="roundRect">
            <a:avLst>
              <a:gd fmla="val 7000" name="adj"/>
            </a:avLst>
          </a:prstGeom>
          <a:solidFill>
            <a:srgbClr val="E3F3FF"/>
          </a:solidFill>
          <a:ln>
            <a:noFill/>
          </a:ln>
        </p:spPr>
        <p:txBody>
          <a:bodyPr anchorCtr="0" anchor="ctr" bIns="91425" lIns="137150" spcFirstLastPara="1" rIns="137150" wrap="square" tIns="91425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uk-UA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Готові рухатись далі?  </a:t>
            </a:r>
            <a:r>
              <a:rPr b="0" i="0" lang="uk-UA" sz="11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Обговоримо ваш проєкт і адаптуємо пропозицію на стартовій зустрічі.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4"/>
          <p:cNvSpPr/>
          <p:nvPr/>
        </p:nvSpPr>
        <p:spPr>
          <a:xfrm>
            <a:off x="3172975" y="2964825"/>
            <a:ext cx="2797800" cy="1471200"/>
          </a:xfrm>
          <a:prstGeom prst="rect">
            <a:avLst/>
          </a:prstGeom>
          <a:solidFill>
            <a:srgbClr val="E3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4"/>
          <p:cNvSpPr txBox="1"/>
          <p:nvPr/>
        </p:nvSpPr>
        <p:spPr>
          <a:xfrm>
            <a:off x="3275994" y="4026127"/>
            <a:ext cx="255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Реальний досвід застосування та ефективності проектів — більше 400 проектів / 40 компаній.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4"/>
          <p:cNvSpPr/>
          <p:nvPr/>
        </p:nvSpPr>
        <p:spPr>
          <a:xfrm>
            <a:off x="6162925" y="2964825"/>
            <a:ext cx="2797800" cy="1471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4"/>
          <p:cNvSpPr txBox="1"/>
          <p:nvPr/>
        </p:nvSpPr>
        <p:spPr>
          <a:xfrm>
            <a:off x="6265944" y="4026127"/>
            <a:ext cx="2554500" cy="307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Маємо експертизу в роботі з Cloud-сервісами, які використовуються для зберігання, трансформації та моделювання даних.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4"/>
          <p:cNvSpPr/>
          <p:nvPr/>
        </p:nvSpPr>
        <p:spPr>
          <a:xfrm>
            <a:off x="3172975" y="1318413"/>
            <a:ext cx="2797800" cy="1471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4"/>
          <p:cNvSpPr txBox="1"/>
          <p:nvPr/>
        </p:nvSpPr>
        <p:spPr>
          <a:xfrm>
            <a:off x="3275994" y="2379715"/>
            <a:ext cx="2554500" cy="307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Займаємо лідируючі позиції в щорічному рейтингу IAB в категорії Data, разом формуємо галузь через постійну участь у Data-комітеті.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4"/>
          <p:cNvSpPr/>
          <p:nvPr/>
        </p:nvSpPr>
        <p:spPr>
          <a:xfrm>
            <a:off x="6162925" y="1318413"/>
            <a:ext cx="2797800" cy="1471200"/>
          </a:xfrm>
          <a:prstGeom prst="rect">
            <a:avLst/>
          </a:prstGeom>
          <a:solidFill>
            <a:srgbClr val="E3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4"/>
          <p:cNvSpPr txBox="1"/>
          <p:nvPr/>
        </p:nvSpPr>
        <p:spPr>
          <a:xfrm>
            <a:off x="6265944" y="2379715"/>
            <a:ext cx="2554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Є сертифікованим партнером з усіх продуктів Google Marketing Platform, знаємо, як ефективно працювати з цими інструментами.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7615" y="3046012"/>
            <a:ext cx="199276" cy="201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4"/>
          <p:cNvPicPr preferRelativeResize="0"/>
          <p:nvPr/>
        </p:nvPicPr>
        <p:blipFill rotWithShape="1">
          <a:blip r:embed="rId4">
            <a:alphaModFix/>
          </a:blip>
          <a:srcRect b="34467" l="0" r="0" t="34292"/>
          <a:stretch/>
        </p:blipFill>
        <p:spPr>
          <a:xfrm>
            <a:off x="6246701" y="3051773"/>
            <a:ext cx="1181151" cy="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43308" y="3050261"/>
            <a:ext cx="199275" cy="193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8315" y="3050076"/>
            <a:ext cx="199274" cy="193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23446" y="1388577"/>
            <a:ext cx="1110116" cy="400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67189" y="1497413"/>
            <a:ext cx="169741" cy="182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4641" y="1497413"/>
            <a:ext cx="187282" cy="182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99634" y="1496798"/>
            <a:ext cx="187283" cy="18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0257" y="1496791"/>
            <a:ext cx="336343" cy="184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11673" y="1491885"/>
            <a:ext cx="187282" cy="193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68187" y="1491886"/>
            <a:ext cx="199270" cy="193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145512" y="1448919"/>
            <a:ext cx="1013544" cy="400472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4"/>
          <p:cNvSpPr txBox="1"/>
          <p:nvPr>
            <p:ph type="title"/>
          </p:nvPr>
        </p:nvSpPr>
        <p:spPr>
          <a:xfrm>
            <a:off x="198000" y="192025"/>
            <a:ext cx="85206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uk-UA"/>
              <a:t>ЕКСПЕРТИЗА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5"/>
          <p:cNvSpPr txBox="1"/>
          <p:nvPr>
            <p:ph type="title"/>
          </p:nvPr>
        </p:nvSpPr>
        <p:spPr>
          <a:xfrm>
            <a:off x="198000" y="192025"/>
            <a:ext cx="85206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uk-UA"/>
              <a:t>КОМАНДА</a:t>
            </a:r>
            <a:endParaRPr/>
          </a:p>
        </p:txBody>
      </p:sp>
      <p:pic>
        <p:nvPicPr>
          <p:cNvPr id="425" name="Google Shape;42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671" y="1024087"/>
            <a:ext cx="770400" cy="7713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6" name="Google Shape;426;p45"/>
          <p:cNvSpPr txBox="1"/>
          <p:nvPr/>
        </p:nvSpPr>
        <p:spPr>
          <a:xfrm>
            <a:off x="1179691" y="958035"/>
            <a:ext cx="1626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Oleksandr </a:t>
            </a:r>
            <a:b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Konivnenko 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45"/>
          <p:cNvSpPr txBox="1"/>
          <p:nvPr/>
        </p:nvSpPr>
        <p:spPr>
          <a:xfrm>
            <a:off x="1179691" y="1428840"/>
            <a:ext cx="1402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8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uk-UA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Head of Digital Data Department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45"/>
          <p:cNvSpPr txBox="1"/>
          <p:nvPr/>
        </p:nvSpPr>
        <p:spPr>
          <a:xfrm>
            <a:off x="3213071" y="958035"/>
            <a:ext cx="15642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Olga </a:t>
            </a:r>
            <a:b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Gornostaieva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45"/>
          <p:cNvSpPr txBox="1"/>
          <p:nvPr/>
        </p:nvSpPr>
        <p:spPr>
          <a:xfrm>
            <a:off x="3213071" y="1428840"/>
            <a:ext cx="13482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8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uk-UA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Analytics </a:t>
            </a:r>
            <a:br>
              <a:rPr b="0" i="0" lang="uk-UA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uk-UA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Team Lead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45"/>
          <p:cNvSpPr txBox="1"/>
          <p:nvPr/>
        </p:nvSpPr>
        <p:spPr>
          <a:xfrm>
            <a:off x="5269101" y="958035"/>
            <a:ext cx="1581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Ihor</a:t>
            </a:r>
            <a:b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Pavlenko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45"/>
          <p:cNvSpPr txBox="1"/>
          <p:nvPr/>
        </p:nvSpPr>
        <p:spPr>
          <a:xfrm>
            <a:off x="5269101" y="1428840"/>
            <a:ext cx="136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8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uk-UA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Engineer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45"/>
          <p:cNvSpPr txBox="1"/>
          <p:nvPr/>
        </p:nvSpPr>
        <p:spPr>
          <a:xfrm>
            <a:off x="7279757" y="958035"/>
            <a:ext cx="15819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Yana </a:t>
            </a:r>
            <a:b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Ivanova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45"/>
          <p:cNvSpPr txBox="1"/>
          <p:nvPr/>
        </p:nvSpPr>
        <p:spPr>
          <a:xfrm>
            <a:off x="7279757" y="1428840"/>
            <a:ext cx="1363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1000"/>
              </a:spcBef>
              <a:spcAft>
                <a:spcPts val="8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uk-UA" sz="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Engineer</a:t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4" name="Google Shape;434;p45"/>
          <p:cNvPicPr preferRelativeResize="0"/>
          <p:nvPr/>
        </p:nvPicPr>
        <p:blipFill rotWithShape="1">
          <a:blip r:embed="rId4">
            <a:alphaModFix/>
          </a:blip>
          <a:srcRect b="30587" l="0" r="0" t="9414"/>
          <a:stretch/>
        </p:blipFill>
        <p:spPr>
          <a:xfrm>
            <a:off x="4439375" y="1008627"/>
            <a:ext cx="770400" cy="7704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5" name="Google Shape;435;p45" title="photo_2025-07-18_09-26-14-removebg-preview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6020" y="1024537"/>
            <a:ext cx="770400" cy="7704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6" name="Google Shape;436;p45" title="photo_2025-09-24_10-17-15-removebg-preview.png"/>
          <p:cNvPicPr preferRelativeResize="0"/>
          <p:nvPr/>
        </p:nvPicPr>
        <p:blipFill rotWithShape="1">
          <a:blip r:embed="rId6">
            <a:alphaModFix/>
          </a:blip>
          <a:srcRect b="6647" l="6647" r="0" t="0"/>
          <a:stretch/>
        </p:blipFill>
        <p:spPr>
          <a:xfrm>
            <a:off x="6527670" y="1008634"/>
            <a:ext cx="770400" cy="7704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37" name="Google Shape;437;p45" title="cropped_ac2918441beb5b99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36372" y="3250203"/>
            <a:ext cx="610800" cy="610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8" name="Google Shape;438;p45"/>
          <p:cNvSpPr txBox="1"/>
          <p:nvPr/>
        </p:nvSpPr>
        <p:spPr>
          <a:xfrm>
            <a:off x="529188" y="3221480"/>
            <a:ext cx="113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uk-UA" sz="3000" u="none" cap="none" strike="noStrike">
                <a:solidFill>
                  <a:schemeClr val="accent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</a:t>
            </a:r>
            <a:endParaRPr b="0" i="0" sz="3000" u="none" cap="none" strike="noStrike">
              <a:solidFill>
                <a:schemeClr val="accent4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39" name="Google Shape;439;p45"/>
          <p:cNvSpPr txBox="1"/>
          <p:nvPr/>
        </p:nvSpPr>
        <p:spPr>
          <a:xfrm>
            <a:off x="896163" y="3375380"/>
            <a:ext cx="131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uk-UA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Analysts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0" name="Google Shape;440;p45" title="Без названия (8).png"/>
          <p:cNvPicPr preferRelativeResize="0"/>
          <p:nvPr/>
        </p:nvPicPr>
        <p:blipFill rotWithShape="1">
          <a:blip r:embed="rId8">
            <a:alphaModFix/>
          </a:blip>
          <a:srcRect b="20004" l="0" r="0" t="19998"/>
          <a:stretch/>
        </p:blipFill>
        <p:spPr>
          <a:xfrm>
            <a:off x="3999626" y="3239329"/>
            <a:ext cx="610800" cy="610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1" name="Google Shape;441;p45" title="cropped_af78718971a182c9-removebg-preview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946575" y="3202325"/>
            <a:ext cx="610800" cy="610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2" name="Google Shape;442;p45" title="photo_2025-10-14_13-56-55 (4).jpg"/>
          <p:cNvPicPr preferRelativeResize="0"/>
          <p:nvPr/>
        </p:nvPicPr>
        <p:blipFill rotWithShape="1">
          <a:blip r:embed="rId10">
            <a:alphaModFix/>
          </a:blip>
          <a:srcRect b="52631" l="7215" r="22049" t="339"/>
          <a:stretch/>
        </p:blipFill>
        <p:spPr>
          <a:xfrm>
            <a:off x="3471621" y="3202334"/>
            <a:ext cx="610800" cy="610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3" name="Google Shape;443;p45" title="photo_2023-10-16_13-17-35-removebg-preview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09863" y="3239337"/>
            <a:ext cx="610800" cy="610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4" name="Google Shape;444;p4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432307" y="3202328"/>
            <a:ext cx="610800" cy="6108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6"/>
          <p:cNvSpPr txBox="1"/>
          <p:nvPr/>
        </p:nvSpPr>
        <p:spPr>
          <a:xfrm>
            <a:off x="183150" y="3630425"/>
            <a:ext cx="2797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Netpeak — маркетинговий партнер для реалізації найамбітніших планів бізнесу по всьому світу. Агентство надає повний спектр маркетингових рішень — від бренд-стратегії до кліку.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Компанія пропонує інноваційні маркетингові підходи та інструменти, які трансформуються в продукти: RadASO, BASE Prosto Export.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6"/>
          <p:cNvSpPr txBox="1"/>
          <p:nvPr>
            <p:ph type="title"/>
          </p:nvPr>
        </p:nvSpPr>
        <p:spPr>
          <a:xfrm>
            <a:off x="198000" y="399600"/>
            <a:ext cx="2652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uk-UA"/>
              <a:t>ПРО NETPEAK</a:t>
            </a:r>
            <a:endParaRPr/>
          </a:p>
        </p:txBody>
      </p:sp>
      <p:sp>
        <p:nvSpPr>
          <p:cNvPr id="451" name="Google Shape;451;p46"/>
          <p:cNvSpPr txBox="1"/>
          <p:nvPr/>
        </p:nvSpPr>
        <p:spPr>
          <a:xfrm>
            <a:off x="183151" y="884825"/>
            <a:ext cx="279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uk-UA" sz="4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років у маркетингу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6"/>
          <p:cNvSpPr txBox="1"/>
          <p:nvPr/>
        </p:nvSpPr>
        <p:spPr>
          <a:xfrm>
            <a:off x="183151" y="1818056"/>
            <a:ext cx="279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uk-UA" sz="4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600+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uk-UA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експертів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6"/>
          <p:cNvSpPr txBox="1"/>
          <p:nvPr/>
        </p:nvSpPr>
        <p:spPr>
          <a:xfrm>
            <a:off x="183151" y="2751288"/>
            <a:ext cx="279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uk-UA" sz="4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3 000+</a:t>
            </a:r>
            <a:endParaRPr b="0" i="0" sz="4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uk-UA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успішних проектів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4" name="Google Shape;454;p46"/>
          <p:cNvGrpSpPr/>
          <p:nvPr/>
        </p:nvGrpSpPr>
        <p:grpSpPr>
          <a:xfrm>
            <a:off x="3172970" y="3558854"/>
            <a:ext cx="1838100" cy="658500"/>
            <a:chOff x="3172970" y="3551415"/>
            <a:chExt cx="1838100" cy="658500"/>
          </a:xfrm>
        </p:grpSpPr>
        <p:sp>
          <p:nvSpPr>
            <p:cNvPr id="455" name="Google Shape;455;p46"/>
            <p:cNvSpPr/>
            <p:nvPr/>
          </p:nvSpPr>
          <p:spPr>
            <a:xfrm>
              <a:off x="3172970" y="3551415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6" name="Google Shape;456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99967" y="3670538"/>
              <a:ext cx="711117" cy="373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46"/>
            <p:cNvSpPr txBox="1"/>
            <p:nvPr/>
          </p:nvSpPr>
          <p:spPr>
            <a:xfrm>
              <a:off x="3267612" y="3632774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2025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6"/>
            <p:cNvSpPr txBox="1"/>
            <p:nvPr/>
          </p:nvSpPr>
          <p:spPr>
            <a:xfrm>
              <a:off x="3267613" y="3825517"/>
              <a:ext cx="8181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Роздрібна торгівля: Срібло 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" name="Google Shape;459;p46"/>
          <p:cNvGrpSpPr/>
          <p:nvPr/>
        </p:nvGrpSpPr>
        <p:grpSpPr>
          <a:xfrm>
            <a:off x="5146220" y="3558854"/>
            <a:ext cx="1838100" cy="658500"/>
            <a:chOff x="5146220" y="3558854"/>
            <a:chExt cx="1838100" cy="658500"/>
          </a:xfrm>
        </p:grpSpPr>
        <p:sp>
          <p:nvSpPr>
            <p:cNvPr id="460" name="Google Shape;460;p46"/>
            <p:cNvSpPr/>
            <p:nvPr/>
          </p:nvSpPr>
          <p:spPr>
            <a:xfrm>
              <a:off x="5146220" y="3558854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1" name="Google Shape;46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73217" y="3677977"/>
              <a:ext cx="711117" cy="373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2" name="Google Shape;462;p46"/>
            <p:cNvSpPr txBox="1"/>
            <p:nvPr/>
          </p:nvSpPr>
          <p:spPr>
            <a:xfrm>
              <a:off x="5240862" y="3640213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2025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6"/>
            <p:cNvSpPr txBox="1"/>
            <p:nvPr/>
          </p:nvSpPr>
          <p:spPr>
            <a:xfrm>
              <a:off x="5240863" y="3832957"/>
              <a:ext cx="9630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Кампанії з одним каналом комунікації: Бронза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4" name="Google Shape;464;p46"/>
          <p:cNvGrpSpPr/>
          <p:nvPr/>
        </p:nvGrpSpPr>
        <p:grpSpPr>
          <a:xfrm>
            <a:off x="7119470" y="3558854"/>
            <a:ext cx="1838100" cy="658500"/>
            <a:chOff x="7119470" y="3551415"/>
            <a:chExt cx="1838100" cy="658500"/>
          </a:xfrm>
        </p:grpSpPr>
        <p:sp>
          <p:nvSpPr>
            <p:cNvPr id="465" name="Google Shape;465;p46"/>
            <p:cNvSpPr/>
            <p:nvPr/>
          </p:nvSpPr>
          <p:spPr>
            <a:xfrm>
              <a:off x="7119470" y="3551415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6" name="Google Shape;466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46467" y="3670538"/>
              <a:ext cx="711117" cy="373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7" name="Google Shape;467;p46"/>
            <p:cNvSpPr txBox="1"/>
            <p:nvPr/>
          </p:nvSpPr>
          <p:spPr>
            <a:xfrm>
              <a:off x="7214112" y="3632774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2025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6"/>
            <p:cNvSpPr txBox="1"/>
            <p:nvPr/>
          </p:nvSpPr>
          <p:spPr>
            <a:xfrm>
              <a:off x="7214113" y="3825517"/>
              <a:ext cx="9630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Challenger Brand Solution: </a:t>
              </a:r>
              <a:b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Срібло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9" name="Google Shape;469;p46"/>
          <p:cNvGrpSpPr/>
          <p:nvPr/>
        </p:nvGrpSpPr>
        <p:grpSpPr>
          <a:xfrm>
            <a:off x="7119470" y="2821531"/>
            <a:ext cx="1838100" cy="658500"/>
            <a:chOff x="7119470" y="2821531"/>
            <a:chExt cx="1838100" cy="658500"/>
          </a:xfrm>
        </p:grpSpPr>
        <p:sp>
          <p:nvSpPr>
            <p:cNvPr id="470" name="Google Shape;470;p46"/>
            <p:cNvSpPr/>
            <p:nvPr/>
          </p:nvSpPr>
          <p:spPr>
            <a:xfrm>
              <a:off x="7119470" y="2821531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1" name="Google Shape;47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46467" y="2940654"/>
              <a:ext cx="711117" cy="373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46"/>
            <p:cNvSpPr txBox="1"/>
            <p:nvPr/>
          </p:nvSpPr>
          <p:spPr>
            <a:xfrm>
              <a:off x="7214112" y="2902890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2025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6"/>
            <p:cNvSpPr txBox="1"/>
            <p:nvPr/>
          </p:nvSpPr>
          <p:spPr>
            <a:xfrm>
              <a:off x="7214113" y="3095634"/>
              <a:ext cx="9630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Performance Marketing: </a:t>
              </a:r>
              <a:b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Золото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46"/>
          <p:cNvGrpSpPr/>
          <p:nvPr/>
        </p:nvGrpSpPr>
        <p:grpSpPr>
          <a:xfrm>
            <a:off x="3172970" y="4293011"/>
            <a:ext cx="1838100" cy="658500"/>
            <a:chOff x="3172970" y="4286161"/>
            <a:chExt cx="1838100" cy="658500"/>
          </a:xfrm>
        </p:grpSpPr>
        <p:sp>
          <p:nvSpPr>
            <p:cNvPr id="475" name="Google Shape;475;p46"/>
            <p:cNvSpPr/>
            <p:nvPr/>
          </p:nvSpPr>
          <p:spPr>
            <a:xfrm>
              <a:off x="3172970" y="4286161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6" name="Google Shape;476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99967" y="4405284"/>
              <a:ext cx="711117" cy="373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6"/>
            <p:cNvSpPr txBox="1"/>
            <p:nvPr/>
          </p:nvSpPr>
          <p:spPr>
            <a:xfrm>
              <a:off x="3267612" y="4367520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2024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6"/>
            <p:cNvSpPr txBox="1"/>
            <p:nvPr/>
          </p:nvSpPr>
          <p:spPr>
            <a:xfrm>
              <a:off x="3267613" y="4491893"/>
              <a:ext cx="932400" cy="39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Попадання в цільову аудиторію в медіа кампанії: Бронза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9" name="Google Shape;479;p46"/>
          <p:cNvGrpSpPr/>
          <p:nvPr/>
        </p:nvGrpSpPr>
        <p:grpSpPr>
          <a:xfrm>
            <a:off x="5146220" y="4293011"/>
            <a:ext cx="1838100" cy="658500"/>
            <a:chOff x="5146220" y="4293011"/>
            <a:chExt cx="1838100" cy="658500"/>
          </a:xfrm>
        </p:grpSpPr>
        <p:sp>
          <p:nvSpPr>
            <p:cNvPr id="480" name="Google Shape;480;p46"/>
            <p:cNvSpPr/>
            <p:nvPr/>
          </p:nvSpPr>
          <p:spPr>
            <a:xfrm>
              <a:off x="5146220" y="4293011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1" name="Google Shape;481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73217" y="4412134"/>
              <a:ext cx="711117" cy="373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2" name="Google Shape;482;p46"/>
            <p:cNvSpPr txBox="1"/>
            <p:nvPr/>
          </p:nvSpPr>
          <p:spPr>
            <a:xfrm>
              <a:off x="5240862" y="4374370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2021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6"/>
            <p:cNvSpPr txBox="1"/>
            <p:nvPr/>
          </p:nvSpPr>
          <p:spPr>
            <a:xfrm>
              <a:off x="5240863" y="4567114"/>
              <a:ext cx="9630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Запуск продукту/сервісу: Срібло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4" name="Google Shape;484;p46"/>
          <p:cNvGrpSpPr/>
          <p:nvPr/>
        </p:nvGrpSpPr>
        <p:grpSpPr>
          <a:xfrm>
            <a:off x="7119470" y="4293011"/>
            <a:ext cx="1838100" cy="658500"/>
            <a:chOff x="7119470" y="4286161"/>
            <a:chExt cx="1838100" cy="658500"/>
          </a:xfrm>
        </p:grpSpPr>
        <p:sp>
          <p:nvSpPr>
            <p:cNvPr id="485" name="Google Shape;485;p46"/>
            <p:cNvSpPr/>
            <p:nvPr/>
          </p:nvSpPr>
          <p:spPr>
            <a:xfrm>
              <a:off x="7119470" y="4286161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6" name="Google Shape;486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146467" y="4405284"/>
              <a:ext cx="711117" cy="3732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46"/>
            <p:cNvSpPr txBox="1"/>
            <p:nvPr/>
          </p:nvSpPr>
          <p:spPr>
            <a:xfrm>
              <a:off x="7214112" y="4367520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2015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6"/>
            <p:cNvSpPr txBox="1"/>
            <p:nvPr/>
          </p:nvSpPr>
          <p:spPr>
            <a:xfrm>
              <a:off x="7214113" y="4560261"/>
              <a:ext cx="8181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E-commerce: Бронза 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9" name="Google Shape;489;p46"/>
          <p:cNvGrpSpPr/>
          <p:nvPr/>
        </p:nvGrpSpPr>
        <p:grpSpPr>
          <a:xfrm>
            <a:off x="3172970" y="2821531"/>
            <a:ext cx="1838100" cy="658500"/>
            <a:chOff x="3172970" y="2821531"/>
            <a:chExt cx="1838100" cy="658500"/>
          </a:xfrm>
        </p:grpSpPr>
        <p:sp>
          <p:nvSpPr>
            <p:cNvPr id="490" name="Google Shape;490;p46">
              <a:hlinkClick r:id="rId4"/>
            </p:cNvPr>
            <p:cNvSpPr/>
            <p:nvPr/>
          </p:nvSpPr>
          <p:spPr>
            <a:xfrm>
              <a:off x="3172970" y="2821531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6"/>
            <p:cNvSpPr txBox="1"/>
            <p:nvPr/>
          </p:nvSpPr>
          <p:spPr>
            <a:xfrm>
              <a:off x="3267612" y="2902890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2025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6"/>
            <p:cNvSpPr txBox="1"/>
            <p:nvPr/>
          </p:nvSpPr>
          <p:spPr>
            <a:xfrm>
              <a:off x="3267613" y="3095634"/>
              <a:ext cx="818100" cy="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uFill>
                    <a:noFill/>
                  </a:u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VEP 2025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3" name="Google Shape;493;p46" title="photo_2025-07-08 19.53.59 1 (1).png">
              <a:hlinkClick r:id="rId6"/>
            </p:cNvPr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12864" y="2879029"/>
              <a:ext cx="932419" cy="5435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4" name="Google Shape;494;p46"/>
          <p:cNvGrpSpPr/>
          <p:nvPr/>
        </p:nvGrpSpPr>
        <p:grpSpPr>
          <a:xfrm>
            <a:off x="5146220" y="2821531"/>
            <a:ext cx="1838100" cy="661447"/>
            <a:chOff x="5146220" y="2826613"/>
            <a:chExt cx="1838100" cy="661447"/>
          </a:xfrm>
        </p:grpSpPr>
        <p:sp>
          <p:nvSpPr>
            <p:cNvPr id="495" name="Google Shape;495;p46">
              <a:hlinkClick r:id="rId8"/>
            </p:cNvPr>
            <p:cNvSpPr/>
            <p:nvPr/>
          </p:nvSpPr>
          <p:spPr>
            <a:xfrm>
              <a:off x="5146220" y="2829560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6"/>
            <p:cNvSpPr txBox="1"/>
            <p:nvPr/>
          </p:nvSpPr>
          <p:spPr>
            <a:xfrm>
              <a:off x="5240862" y="2910919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2025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6"/>
            <p:cNvSpPr txBox="1"/>
            <p:nvPr/>
          </p:nvSpPr>
          <p:spPr>
            <a:xfrm>
              <a:off x="5240863" y="3103662"/>
              <a:ext cx="8181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uFill>
                    <a:noFill/>
                  </a:uFill>
                  <a:latin typeface="Arial"/>
                  <a:ea typeface="Arial"/>
                  <a:cs typeface="Arial"/>
                  <a:sym typeface="Arial"/>
                  <a:hlinkClick r:id="rId9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Finalist Data Innovation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8" name="Google Shape;498;p46" title="GAIA_Finalist_Badge.png">
              <a:hlinkClick r:id="rId10"/>
            </p:cNvPr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381673" y="2826613"/>
              <a:ext cx="590314" cy="6585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9" name="Google Shape;499;p46"/>
          <p:cNvGrpSpPr/>
          <p:nvPr/>
        </p:nvGrpSpPr>
        <p:grpSpPr>
          <a:xfrm>
            <a:off x="3172970" y="185180"/>
            <a:ext cx="1838100" cy="658500"/>
            <a:chOff x="3172970" y="185180"/>
            <a:chExt cx="1838100" cy="658500"/>
          </a:xfrm>
        </p:grpSpPr>
        <p:sp>
          <p:nvSpPr>
            <p:cNvPr id="500" name="Google Shape;500;p46">
              <a:hlinkClick r:id="rId12"/>
            </p:cNvPr>
            <p:cNvSpPr/>
            <p:nvPr/>
          </p:nvSpPr>
          <p:spPr>
            <a:xfrm>
              <a:off x="3172970" y="185180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6"/>
            <p:cNvSpPr txBox="1"/>
            <p:nvPr/>
          </p:nvSpPr>
          <p:spPr>
            <a:xfrm>
              <a:off x="3267612" y="266539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з 2017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6"/>
            <p:cNvSpPr txBox="1"/>
            <p:nvPr/>
          </p:nvSpPr>
          <p:spPr>
            <a:xfrm>
              <a:off x="3267613" y="459282"/>
              <a:ext cx="9630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Google Premier Partner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3" name="Google Shape;503;p46">
              <a:hlinkClick r:id="rId13"/>
            </p:cNvPr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405737" y="266550"/>
              <a:ext cx="515425" cy="515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4" name="Google Shape;504;p46"/>
          <p:cNvGrpSpPr/>
          <p:nvPr/>
        </p:nvGrpSpPr>
        <p:grpSpPr>
          <a:xfrm>
            <a:off x="5146220" y="185180"/>
            <a:ext cx="1838100" cy="658500"/>
            <a:chOff x="5146220" y="192030"/>
            <a:chExt cx="1838100" cy="658500"/>
          </a:xfrm>
        </p:grpSpPr>
        <p:sp>
          <p:nvSpPr>
            <p:cNvPr id="505" name="Google Shape;505;p46">
              <a:hlinkClick r:id="rId15"/>
            </p:cNvPr>
            <p:cNvSpPr/>
            <p:nvPr/>
          </p:nvSpPr>
          <p:spPr>
            <a:xfrm>
              <a:off x="5146220" y="192030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6"/>
            <p:cNvSpPr txBox="1"/>
            <p:nvPr/>
          </p:nvSpPr>
          <p:spPr>
            <a:xfrm>
              <a:off x="5240862" y="273389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7 продуктових сертифікацій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46"/>
            <p:cNvSpPr txBox="1"/>
            <p:nvPr/>
          </p:nvSpPr>
          <p:spPr>
            <a:xfrm>
              <a:off x="5240863" y="466132"/>
              <a:ext cx="9630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GoogleMarketing Platform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8" name="Google Shape;508;p46">
              <a:hlinkClick r:id="rId16"/>
            </p:cNvPr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380876" y="279500"/>
              <a:ext cx="483550" cy="4835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9" name="Google Shape;509;p46"/>
          <p:cNvGrpSpPr/>
          <p:nvPr/>
        </p:nvGrpSpPr>
        <p:grpSpPr>
          <a:xfrm>
            <a:off x="7119470" y="185180"/>
            <a:ext cx="1838100" cy="658500"/>
            <a:chOff x="7119470" y="185180"/>
            <a:chExt cx="1838100" cy="658500"/>
          </a:xfrm>
        </p:grpSpPr>
        <p:sp>
          <p:nvSpPr>
            <p:cNvPr id="510" name="Google Shape;510;p46">
              <a:hlinkClick r:id="rId18"/>
            </p:cNvPr>
            <p:cNvSpPr/>
            <p:nvPr/>
          </p:nvSpPr>
          <p:spPr>
            <a:xfrm>
              <a:off x="7119470" y="185180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46"/>
            <p:cNvSpPr txBox="1"/>
            <p:nvPr/>
          </p:nvSpPr>
          <p:spPr>
            <a:xfrm>
              <a:off x="7214112" y="266539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з 2025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46"/>
            <p:cNvSpPr txBox="1"/>
            <p:nvPr/>
          </p:nvSpPr>
          <p:spPr>
            <a:xfrm>
              <a:off x="7214113" y="459282"/>
              <a:ext cx="9630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Google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Cloud Partner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3" name="Google Shape;513;p46" title="Group.png">
              <a:hlinkClick r:id="rId19"/>
            </p:cNvPr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302923" y="307537"/>
              <a:ext cx="534751" cy="4274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4" name="Google Shape;514;p46"/>
          <p:cNvGrpSpPr/>
          <p:nvPr/>
        </p:nvGrpSpPr>
        <p:grpSpPr>
          <a:xfrm>
            <a:off x="3172970" y="926889"/>
            <a:ext cx="1838100" cy="658500"/>
            <a:chOff x="3172970" y="926889"/>
            <a:chExt cx="1838100" cy="658500"/>
          </a:xfrm>
        </p:grpSpPr>
        <p:sp>
          <p:nvSpPr>
            <p:cNvPr id="515" name="Google Shape;515;p46">
              <a:hlinkClick r:id="rId21"/>
            </p:cNvPr>
            <p:cNvSpPr/>
            <p:nvPr/>
          </p:nvSpPr>
          <p:spPr>
            <a:xfrm>
              <a:off x="3172970" y="926889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6"/>
            <p:cNvSpPr txBox="1"/>
            <p:nvPr/>
          </p:nvSpPr>
          <p:spPr>
            <a:xfrm>
              <a:off x="3267612" y="1008248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з 2019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6"/>
            <p:cNvSpPr txBox="1"/>
            <p:nvPr/>
          </p:nvSpPr>
          <p:spPr>
            <a:xfrm>
              <a:off x="3267613" y="1200991"/>
              <a:ext cx="963000" cy="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Partner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8" name="Google Shape;518;p46" title="image 50.png">
              <a:hlinkClick r:id="rId22"/>
            </p:cNvPr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4168940" y="1110424"/>
              <a:ext cx="711126" cy="29142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9" name="Google Shape;519;p46"/>
          <p:cNvGrpSpPr/>
          <p:nvPr/>
        </p:nvGrpSpPr>
        <p:grpSpPr>
          <a:xfrm>
            <a:off x="3172970" y="1659435"/>
            <a:ext cx="1838100" cy="658500"/>
            <a:chOff x="3172970" y="1659435"/>
            <a:chExt cx="1838100" cy="658500"/>
          </a:xfrm>
        </p:grpSpPr>
        <p:sp>
          <p:nvSpPr>
            <p:cNvPr id="520" name="Google Shape;520;p46">
              <a:hlinkClick r:id="rId24"/>
            </p:cNvPr>
            <p:cNvSpPr/>
            <p:nvPr/>
          </p:nvSpPr>
          <p:spPr>
            <a:xfrm>
              <a:off x="3172970" y="1659435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6"/>
            <p:cNvSpPr txBox="1"/>
            <p:nvPr/>
          </p:nvSpPr>
          <p:spPr>
            <a:xfrm>
              <a:off x="3267612" y="1740794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з 2020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6"/>
            <p:cNvSpPr txBox="1"/>
            <p:nvPr/>
          </p:nvSpPr>
          <p:spPr>
            <a:xfrm>
              <a:off x="3267613" y="1933537"/>
              <a:ext cx="9630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Badged </a:t>
              </a:r>
              <a:b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Partner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3" name="Google Shape;523;p46" title="image 66.png">
              <a:hlinkClick r:id="rId25"/>
            </p:cNvPr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4071250" y="1896205"/>
              <a:ext cx="818099" cy="184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" name="Google Shape;524;p46"/>
          <p:cNvGrpSpPr/>
          <p:nvPr/>
        </p:nvGrpSpPr>
        <p:grpSpPr>
          <a:xfrm>
            <a:off x="5146220" y="1659435"/>
            <a:ext cx="1838100" cy="658500"/>
            <a:chOff x="5146220" y="1665106"/>
            <a:chExt cx="1838100" cy="658500"/>
          </a:xfrm>
        </p:grpSpPr>
        <p:sp>
          <p:nvSpPr>
            <p:cNvPr id="525" name="Google Shape;525;p46">
              <a:hlinkClick r:id="rId27"/>
            </p:cNvPr>
            <p:cNvSpPr/>
            <p:nvPr/>
          </p:nvSpPr>
          <p:spPr>
            <a:xfrm>
              <a:off x="5146220" y="1665106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6"/>
            <p:cNvSpPr txBox="1"/>
            <p:nvPr/>
          </p:nvSpPr>
          <p:spPr>
            <a:xfrm>
              <a:off x="5240862" y="1746465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з 2024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6"/>
            <p:cNvSpPr txBox="1"/>
            <p:nvPr/>
          </p:nvSpPr>
          <p:spPr>
            <a:xfrm>
              <a:off x="5240863" y="1939209"/>
              <a:ext cx="9630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Directly </a:t>
              </a:r>
              <a:b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8" name="Google Shape;528;p46" title="image 66.png">
              <a:hlinkClick r:id="rId28"/>
            </p:cNvPr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044500" y="1901876"/>
              <a:ext cx="818099" cy="184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" name="Google Shape;529;p46"/>
          <p:cNvGrpSpPr/>
          <p:nvPr/>
        </p:nvGrpSpPr>
        <p:grpSpPr>
          <a:xfrm>
            <a:off x="7119470" y="1659435"/>
            <a:ext cx="1838100" cy="658500"/>
            <a:chOff x="7119470" y="1659435"/>
            <a:chExt cx="1838100" cy="658500"/>
          </a:xfrm>
        </p:grpSpPr>
        <p:sp>
          <p:nvSpPr>
            <p:cNvPr id="530" name="Google Shape;530;p46">
              <a:hlinkClick r:id="rId29"/>
            </p:cNvPr>
            <p:cNvSpPr/>
            <p:nvPr/>
          </p:nvSpPr>
          <p:spPr>
            <a:xfrm>
              <a:off x="7119470" y="1659435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6"/>
            <p:cNvSpPr txBox="1"/>
            <p:nvPr/>
          </p:nvSpPr>
          <p:spPr>
            <a:xfrm>
              <a:off x="7214112" y="1740794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з 2025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6"/>
            <p:cNvSpPr txBox="1"/>
            <p:nvPr/>
          </p:nvSpPr>
          <p:spPr>
            <a:xfrm>
              <a:off x="7214113" y="1933537"/>
              <a:ext cx="963000" cy="19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Media </a:t>
              </a:r>
              <a:b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Certified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3" name="Google Shape;533;p46" title="image 66.png">
              <a:hlinkClick r:id="rId30"/>
            </p:cNvPr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8017750" y="1896205"/>
              <a:ext cx="818099" cy="184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4" name="Google Shape;534;p46"/>
          <p:cNvGrpSpPr/>
          <p:nvPr/>
        </p:nvGrpSpPr>
        <p:grpSpPr>
          <a:xfrm>
            <a:off x="5146220" y="926889"/>
            <a:ext cx="1838100" cy="658500"/>
            <a:chOff x="5146220" y="933149"/>
            <a:chExt cx="1838100" cy="658500"/>
          </a:xfrm>
        </p:grpSpPr>
        <p:sp>
          <p:nvSpPr>
            <p:cNvPr id="535" name="Google Shape;535;p46">
              <a:hlinkClick r:id="rId31"/>
            </p:cNvPr>
            <p:cNvSpPr/>
            <p:nvPr/>
          </p:nvSpPr>
          <p:spPr>
            <a:xfrm>
              <a:off x="5146220" y="933149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6"/>
            <p:cNvSpPr txBox="1"/>
            <p:nvPr/>
          </p:nvSpPr>
          <p:spPr>
            <a:xfrm>
              <a:off x="5240862" y="1014508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з 2024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6"/>
            <p:cNvSpPr txBox="1"/>
            <p:nvPr/>
          </p:nvSpPr>
          <p:spPr>
            <a:xfrm>
              <a:off x="5240863" y="1207252"/>
              <a:ext cx="963000" cy="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Certified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8" name="Google Shape;538;p46" title="Subtract.png">
              <a:hlinkClick r:id="rId32"/>
            </p:cNvPr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6083065" y="1188449"/>
              <a:ext cx="764887" cy="147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9" name="Google Shape;539;p46"/>
          <p:cNvGrpSpPr/>
          <p:nvPr/>
        </p:nvGrpSpPr>
        <p:grpSpPr>
          <a:xfrm>
            <a:off x="7119470" y="926889"/>
            <a:ext cx="1838100" cy="658500"/>
            <a:chOff x="7119470" y="926889"/>
            <a:chExt cx="1838100" cy="658500"/>
          </a:xfrm>
        </p:grpSpPr>
        <p:sp>
          <p:nvSpPr>
            <p:cNvPr id="540" name="Google Shape;540;p46">
              <a:hlinkClick r:id="rId34"/>
            </p:cNvPr>
            <p:cNvSpPr/>
            <p:nvPr/>
          </p:nvSpPr>
          <p:spPr>
            <a:xfrm>
              <a:off x="7119470" y="926889"/>
              <a:ext cx="1838100" cy="658500"/>
            </a:xfrm>
            <a:prstGeom prst="roundRect">
              <a:avLst>
                <a:gd fmla="val 0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82050" lIns="82050" spcFirstLastPara="1" rIns="82050" wrap="square" tIns="820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6"/>
                <a:buFont typeface="Arial"/>
                <a:buNone/>
              </a:pPr>
              <a:r>
                <a:t/>
              </a:r>
              <a:endParaRPr b="0" i="0" sz="125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6"/>
            <p:cNvSpPr txBox="1"/>
            <p:nvPr/>
          </p:nvSpPr>
          <p:spPr>
            <a:xfrm>
              <a:off x="7214112" y="1008248"/>
              <a:ext cx="1648800" cy="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8"/>
                <a:buFont typeface="Arial"/>
                <a:buNone/>
              </a:pPr>
              <a:r>
                <a:rPr b="1" i="0" lang="uk-UA" sz="538" u="none" cap="none" strike="noStrike">
                  <a:solidFill>
                    <a:srgbClr val="B7B7B7"/>
                  </a:solidFill>
                  <a:latin typeface="Arial"/>
                  <a:ea typeface="Arial"/>
                  <a:cs typeface="Arial"/>
                  <a:sym typeface="Arial"/>
                </a:rPr>
                <a:t>2023</a:t>
              </a:r>
              <a:endParaRPr b="1" i="0" sz="538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6"/>
            <p:cNvSpPr txBox="1"/>
            <p:nvPr/>
          </p:nvSpPr>
          <p:spPr>
            <a:xfrm>
              <a:off x="7214123" y="1200983"/>
              <a:ext cx="8421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8"/>
                <a:buFont typeface="Arial"/>
                <a:buNone/>
              </a:pPr>
              <a:r>
                <a:rPr b="1" i="0" lang="uk-UA" sz="71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Top Digital Marketing Company</a:t>
              </a:r>
              <a:endParaRPr b="1" i="0" sz="7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3" name="Google Shape;543;p46" title="image 81.png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8042245" y="1039364"/>
              <a:ext cx="791827" cy="433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7"/>
          <p:cNvSpPr txBox="1"/>
          <p:nvPr/>
        </p:nvSpPr>
        <p:spPr>
          <a:xfrm>
            <a:off x="246475" y="263500"/>
            <a:ext cx="807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uk-UA" sz="25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Netpeak – це про комплексний маркетинг</a:t>
            </a:r>
            <a:endParaRPr b="1" i="0" sz="2500" u="none" cap="none" strike="noStrike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549" name="Google Shape;549;p47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8479160" y="4478897"/>
            <a:ext cx="241618" cy="241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3555" y="4479128"/>
            <a:ext cx="257798" cy="240932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7"/>
          <p:cNvSpPr/>
          <p:nvPr/>
        </p:nvSpPr>
        <p:spPr>
          <a:xfrm>
            <a:off x="396875" y="1179103"/>
            <a:ext cx="1095900" cy="50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5BA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Стратегічні продукти</a:t>
            </a:r>
            <a:endParaRPr b="1" i="0" sz="90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52" name="Google Shape;552;p47"/>
          <p:cNvSpPr/>
          <p:nvPr/>
        </p:nvSpPr>
        <p:spPr>
          <a:xfrm>
            <a:off x="1605923" y="1179103"/>
            <a:ext cx="1095900" cy="50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5BA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Власні канали </a:t>
            </a:r>
            <a:b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</a:br>
            <a: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та медіа</a:t>
            </a:r>
            <a:endParaRPr b="1" i="0" sz="90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53" name="Google Shape;553;p47"/>
          <p:cNvSpPr/>
          <p:nvPr/>
        </p:nvSpPr>
        <p:spPr>
          <a:xfrm>
            <a:off x="2814971" y="1179103"/>
            <a:ext cx="1095900" cy="50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5BA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Performance лідогенерація</a:t>
            </a:r>
            <a:endParaRPr b="1" i="0" sz="90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54" name="Google Shape;554;p47"/>
          <p:cNvSpPr/>
          <p:nvPr/>
        </p:nvSpPr>
        <p:spPr>
          <a:xfrm>
            <a:off x="4024019" y="1179103"/>
            <a:ext cx="1095900" cy="50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5BA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Попит через впізнаваність</a:t>
            </a:r>
            <a:endParaRPr b="1" i="0" sz="90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55" name="Google Shape;555;p47"/>
          <p:cNvSpPr/>
          <p:nvPr/>
        </p:nvSpPr>
        <p:spPr>
          <a:xfrm>
            <a:off x="5233067" y="1179103"/>
            <a:ext cx="1095900" cy="50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5BA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Креативні рішення</a:t>
            </a:r>
            <a:endParaRPr b="1" i="0" sz="90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56" name="Google Shape;556;p47"/>
          <p:cNvSpPr/>
          <p:nvPr/>
        </p:nvSpPr>
        <p:spPr>
          <a:xfrm>
            <a:off x="6442116" y="1179103"/>
            <a:ext cx="1095900" cy="50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5BA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Аналітика </a:t>
            </a:r>
            <a:b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</a:br>
            <a: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та дані</a:t>
            </a:r>
            <a:endParaRPr b="1" i="0" sz="90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57" name="Google Shape;557;p47"/>
          <p:cNvSpPr/>
          <p:nvPr/>
        </p:nvSpPr>
        <p:spPr>
          <a:xfrm>
            <a:off x="7651164" y="1179103"/>
            <a:ext cx="1095900" cy="507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5BA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Бізнес </a:t>
            </a:r>
            <a:b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</a:br>
            <a:r>
              <a:rPr b="1" i="0" lang="uk-UA" sz="90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рішення</a:t>
            </a:r>
            <a:endParaRPr b="1" i="0" sz="90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58" name="Google Shape;558;p47"/>
          <p:cNvSpPr txBox="1"/>
          <p:nvPr/>
        </p:nvSpPr>
        <p:spPr>
          <a:xfrm>
            <a:off x="246475" y="2337975"/>
            <a:ext cx="1240500" cy="13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Brand Strategy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Communication Strategy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Дослідження аудиторії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Маркетинговий консалтинг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Маркетинг-</a:t>
            </a:r>
            <a:b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</a:b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аутсорс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ABM Marketing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59" name="Google Shape;559;p47"/>
          <p:cNvSpPr txBox="1"/>
          <p:nvPr/>
        </p:nvSpPr>
        <p:spPr>
          <a:xfrm>
            <a:off x="1455850" y="2337975"/>
            <a:ext cx="12294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GEO</a:t>
            </a:r>
            <a:b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</a:b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SEO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Retention Marketing (Email, Push, In-App)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CRO / RRO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Telegram-канали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Chatbots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ASO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App Localization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Ad Monetization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60" name="Google Shape;560;p47"/>
          <p:cNvSpPr txBox="1"/>
          <p:nvPr/>
        </p:nvSpPr>
        <p:spPr>
          <a:xfrm>
            <a:off x="2652141" y="2337985"/>
            <a:ext cx="1240500" cy="24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PPC / Google Ads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Performance Max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Meta Ads (Facebook, Instagram)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Google Shopping 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Gmail Sponsored Promotions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Programmatic (DV360, The Trade Desk)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Mobile User Acquisition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Direct Marketing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B2B Lead Generation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Marketplace Marketing (Amazon, Allegro, Walmart)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61" name="Google Shape;561;p47"/>
          <p:cNvSpPr txBox="1"/>
          <p:nvPr/>
        </p:nvSpPr>
        <p:spPr>
          <a:xfrm>
            <a:off x="3872975" y="2337996"/>
            <a:ext cx="1176300" cy="13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YouTube Media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Connected TV (Smart TV, Megogo, SWEET.TV, </a:t>
            </a:r>
            <a:b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</a:b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Netflix Ads)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Telegram Ads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ORM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SERM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PR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62" name="Google Shape;562;p47"/>
          <p:cNvSpPr txBox="1"/>
          <p:nvPr/>
        </p:nvSpPr>
        <p:spPr>
          <a:xfrm>
            <a:off x="5099475" y="2337975"/>
            <a:ext cx="10959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Креативна ідея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SMM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Спецпроекти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Influence- Marketing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Продакшн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UX/UI Design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63" name="Google Shape;563;p47"/>
          <p:cNvSpPr txBox="1"/>
          <p:nvPr/>
        </p:nvSpPr>
        <p:spPr>
          <a:xfrm>
            <a:off x="6310190" y="2337985"/>
            <a:ext cx="1240500" cy="18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Marketing Intelligence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Value-Based Bidding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Веб-аналітика (GA4)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Аналітика </a:t>
            </a:r>
            <a:b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</a:b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для мобільних застосунків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Налаштування дашбордів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Моделювання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Прогнозування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BigQuery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Data Engineering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64" name="Google Shape;564;p47"/>
          <p:cNvSpPr txBox="1"/>
          <p:nvPr/>
        </p:nvSpPr>
        <p:spPr>
          <a:xfrm>
            <a:off x="7495503" y="2337985"/>
            <a:ext cx="13119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Реселінг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Рекрутинг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Партнерська програма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Налаштування продажів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  <a:p>
            <a:pPr indent="-2698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Geologica"/>
              <a:buChar char="➔"/>
            </a:pPr>
            <a:r>
              <a:rPr b="0" i="0" lang="uk-UA" sz="650" u="none" cap="none" strike="noStrike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AI інтеграції</a:t>
            </a:r>
            <a:endParaRPr b="0" i="0" sz="650" u="none" cap="none" strike="noStrike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65" name="Google Shape;565;p47"/>
          <p:cNvSpPr txBox="1"/>
          <p:nvPr/>
        </p:nvSpPr>
        <p:spPr>
          <a:xfrm>
            <a:off x="396875" y="1703650"/>
            <a:ext cx="10794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uk-UA" sz="700" u="none" cap="none" strike="noStrike">
                <a:solidFill>
                  <a:srgbClr val="000000"/>
                </a:solidFill>
                <a:latin typeface="Geologica SemiBold"/>
                <a:ea typeface="Geologica SemiBold"/>
                <a:cs typeface="Geologica SemiBold"/>
                <a:sym typeface="Geologica SemiBold"/>
              </a:rPr>
              <a:t>Свіжі ідеї та  зміни позиціонування, або треба створити щось кардинально нове</a:t>
            </a:r>
            <a:endParaRPr b="0" i="0" sz="700" u="none" cap="none" strike="noStrike">
              <a:solidFill>
                <a:srgbClr val="000000"/>
              </a:solidFill>
              <a:latin typeface="Geologica SemiBold"/>
              <a:ea typeface="Geologica SemiBold"/>
              <a:cs typeface="Geologica SemiBold"/>
              <a:sym typeface="Geologic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Geologica SemiBold"/>
              <a:ea typeface="Geologica SemiBold"/>
              <a:cs typeface="Geologica SemiBold"/>
              <a:sym typeface="Geologica SemiBold"/>
            </a:endParaRPr>
          </a:p>
        </p:txBody>
      </p:sp>
      <p:sp>
        <p:nvSpPr>
          <p:cNvPr id="566" name="Google Shape;566;p47"/>
          <p:cNvSpPr txBox="1"/>
          <p:nvPr/>
        </p:nvSpPr>
        <p:spPr>
          <a:xfrm>
            <a:off x="1605923" y="1703650"/>
            <a:ext cx="10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uk-UA" sz="700" u="none" cap="none" strike="noStrike">
                <a:solidFill>
                  <a:srgbClr val="000000"/>
                </a:solidFill>
                <a:latin typeface="Geologica SemiBold"/>
                <a:ea typeface="Geologica SemiBold"/>
                <a:cs typeface="Geologica SemiBold"/>
                <a:sym typeface="Geologica SemiBold"/>
              </a:rPr>
              <a:t>Оптимізація існуючих майданчиків взаємодії та інформування клієнтів</a:t>
            </a:r>
            <a:endParaRPr b="0" i="0" sz="700" u="none" cap="none" strike="noStrike">
              <a:solidFill>
                <a:srgbClr val="000000"/>
              </a:solidFill>
              <a:latin typeface="Geologica SemiBold"/>
              <a:ea typeface="Geologica SemiBold"/>
              <a:cs typeface="Geologica SemiBold"/>
              <a:sym typeface="Geologica SemiBold"/>
            </a:endParaRPr>
          </a:p>
        </p:txBody>
      </p:sp>
      <p:sp>
        <p:nvSpPr>
          <p:cNvPr id="567" name="Google Shape;567;p47"/>
          <p:cNvSpPr txBox="1"/>
          <p:nvPr/>
        </p:nvSpPr>
        <p:spPr>
          <a:xfrm>
            <a:off x="2814971" y="1703650"/>
            <a:ext cx="1079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uk-UA" sz="700" u="none" cap="none" strike="noStrike">
                <a:solidFill>
                  <a:srgbClr val="000000"/>
                </a:solidFill>
                <a:latin typeface="Geologica SemiBold"/>
                <a:ea typeface="Geologica SemiBold"/>
                <a:cs typeface="Geologica SemiBold"/>
                <a:sym typeface="Geologica SemiBold"/>
              </a:rPr>
              <a:t>Залучення цільових клієнтів зі сформованим попитом</a:t>
            </a:r>
            <a:endParaRPr b="0" i="0" sz="700" u="none" cap="none" strike="noStrike">
              <a:solidFill>
                <a:srgbClr val="000000"/>
              </a:solidFill>
              <a:latin typeface="Geologica SemiBold"/>
              <a:ea typeface="Geologica SemiBold"/>
              <a:cs typeface="Geologica SemiBold"/>
              <a:sym typeface="Geologica SemiBold"/>
            </a:endParaRPr>
          </a:p>
        </p:txBody>
      </p:sp>
      <p:sp>
        <p:nvSpPr>
          <p:cNvPr id="568" name="Google Shape;568;p47"/>
          <p:cNvSpPr txBox="1"/>
          <p:nvPr/>
        </p:nvSpPr>
        <p:spPr>
          <a:xfrm>
            <a:off x="4024019" y="1703650"/>
            <a:ext cx="10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uk-UA" sz="700" u="none" cap="none" strike="noStrike">
                <a:solidFill>
                  <a:srgbClr val="000000"/>
                </a:solidFill>
                <a:latin typeface="Geologica SemiBold"/>
                <a:ea typeface="Geologica SemiBold"/>
                <a:cs typeface="Geologica SemiBold"/>
                <a:sym typeface="Geologica SemiBold"/>
              </a:rPr>
              <a:t>Підвищення впізнаваності та зміцнення репутації бренду</a:t>
            </a:r>
            <a:endParaRPr b="0" i="0" sz="700" u="none" cap="none" strike="noStrike">
              <a:solidFill>
                <a:srgbClr val="000000"/>
              </a:solidFill>
              <a:latin typeface="Geologica SemiBold"/>
              <a:ea typeface="Geologica SemiBold"/>
              <a:cs typeface="Geologica SemiBold"/>
              <a:sym typeface="Geologica SemiBold"/>
            </a:endParaRPr>
          </a:p>
        </p:txBody>
      </p:sp>
      <p:sp>
        <p:nvSpPr>
          <p:cNvPr id="569" name="Google Shape;569;p47"/>
          <p:cNvSpPr txBox="1"/>
          <p:nvPr/>
        </p:nvSpPr>
        <p:spPr>
          <a:xfrm>
            <a:off x="5233067" y="1703650"/>
            <a:ext cx="10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uk-UA" sz="700" u="none" cap="none" strike="noStrike">
                <a:solidFill>
                  <a:srgbClr val="000000"/>
                </a:solidFill>
                <a:latin typeface="Geologica SemiBold"/>
                <a:ea typeface="Geologica SemiBold"/>
                <a:cs typeface="Geologica SemiBold"/>
                <a:sym typeface="Geologica SemiBold"/>
              </a:rPr>
              <a:t>Для збільшення залученості, сприйняття бренду та конверсії</a:t>
            </a:r>
            <a:endParaRPr b="0" i="0" sz="700" u="none" cap="none" strike="noStrike">
              <a:solidFill>
                <a:srgbClr val="000000"/>
              </a:solidFill>
              <a:latin typeface="Geologica SemiBold"/>
              <a:ea typeface="Geologica SemiBold"/>
              <a:cs typeface="Geologica SemiBold"/>
              <a:sym typeface="Geologica SemiBold"/>
            </a:endParaRPr>
          </a:p>
        </p:txBody>
      </p:sp>
      <p:sp>
        <p:nvSpPr>
          <p:cNvPr id="570" name="Google Shape;570;p47"/>
          <p:cNvSpPr txBox="1"/>
          <p:nvPr/>
        </p:nvSpPr>
        <p:spPr>
          <a:xfrm>
            <a:off x="6442125" y="1703650"/>
            <a:ext cx="1145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uk-UA" sz="700" u="none" cap="none" strike="noStrike">
                <a:solidFill>
                  <a:srgbClr val="000000"/>
                </a:solidFill>
                <a:latin typeface="Geologica SemiBold"/>
                <a:ea typeface="Geologica SemiBold"/>
                <a:cs typeface="Geologica SemiBold"/>
                <a:sym typeface="Geologica SemiBold"/>
              </a:rPr>
              <a:t>Розбудова аналітичної інфраструктури та візуалізація даних для data-driven рішень</a:t>
            </a:r>
            <a:endParaRPr b="0" i="0" sz="700" u="none" cap="none" strike="noStrike">
              <a:solidFill>
                <a:srgbClr val="000000"/>
              </a:solidFill>
              <a:latin typeface="Geologica SemiBold"/>
              <a:ea typeface="Geologica SemiBold"/>
              <a:cs typeface="Geologica SemiBold"/>
              <a:sym typeface="Geologica SemiBold"/>
            </a:endParaRPr>
          </a:p>
        </p:txBody>
      </p:sp>
      <p:sp>
        <p:nvSpPr>
          <p:cNvPr id="571" name="Google Shape;571;p47"/>
          <p:cNvSpPr txBox="1"/>
          <p:nvPr/>
        </p:nvSpPr>
        <p:spPr>
          <a:xfrm>
            <a:off x="7651164" y="1703650"/>
            <a:ext cx="1079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uk-UA" sz="700" u="none" cap="none" strike="noStrike">
                <a:solidFill>
                  <a:srgbClr val="000000"/>
                </a:solidFill>
                <a:latin typeface="Geologica SemiBold"/>
                <a:ea typeface="Geologica SemiBold"/>
                <a:cs typeface="Geologica SemiBold"/>
                <a:sym typeface="Geologica SemiBold"/>
              </a:rPr>
              <a:t>Додаткові рішення </a:t>
            </a:r>
            <a:br>
              <a:rPr b="0" i="0" lang="uk-UA" sz="700" u="none" cap="none" strike="noStrike">
                <a:solidFill>
                  <a:srgbClr val="000000"/>
                </a:solidFill>
                <a:latin typeface="Geologica SemiBold"/>
                <a:ea typeface="Geologica SemiBold"/>
                <a:cs typeface="Geologica SemiBold"/>
                <a:sym typeface="Geologica SemiBold"/>
              </a:rPr>
            </a:br>
            <a:r>
              <a:rPr b="0" i="0" lang="uk-UA" sz="700" u="none" cap="none" strike="noStrike">
                <a:solidFill>
                  <a:srgbClr val="000000"/>
                </a:solidFill>
                <a:latin typeface="Geologica SemiBold"/>
                <a:ea typeface="Geologica SemiBold"/>
                <a:cs typeface="Geologica SemiBold"/>
                <a:sym typeface="Geologica SemiBold"/>
              </a:rPr>
              <a:t>для комплексного функціонування</a:t>
            </a:r>
            <a:endParaRPr b="0" i="0" sz="700" u="none" cap="none" strike="noStrike">
              <a:solidFill>
                <a:srgbClr val="000000"/>
              </a:solidFill>
              <a:latin typeface="Geologica SemiBold"/>
              <a:ea typeface="Geologica SemiBold"/>
              <a:cs typeface="Geologica SemiBold"/>
              <a:sym typeface="Geologica SemiBold"/>
            </a:endParaRPr>
          </a:p>
        </p:txBody>
      </p:sp>
      <p:sp>
        <p:nvSpPr>
          <p:cNvPr id="572" name="Google Shape;572;p47"/>
          <p:cNvSpPr txBox="1"/>
          <p:nvPr>
            <p:ph idx="4294967295" type="body"/>
          </p:nvPr>
        </p:nvSpPr>
        <p:spPr>
          <a:xfrm>
            <a:off x="258006" y="733168"/>
            <a:ext cx="486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uk-UA" sz="10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rPr>
              <a:t>від стратегії – до технічної реалізації та аналізу даних</a:t>
            </a:r>
            <a:endParaRPr b="1" sz="1000">
              <a:solidFill>
                <a:schemeClr val="dk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573" name="Google Shape;573;p47" title="netpeak_blue.png"/>
          <p:cNvPicPr preferRelativeResize="0"/>
          <p:nvPr/>
        </p:nvPicPr>
        <p:blipFill rotWithShape="1">
          <a:blip r:embed="rId5">
            <a:alphaModFix/>
          </a:blip>
          <a:srcRect b="50" l="0" r="0" t="50"/>
          <a:stretch/>
        </p:blipFill>
        <p:spPr>
          <a:xfrm>
            <a:off x="7498200" y="344207"/>
            <a:ext cx="1334098" cy="26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8"/>
          <p:cNvSpPr txBox="1"/>
          <p:nvPr>
            <p:ph type="title"/>
          </p:nvPr>
        </p:nvSpPr>
        <p:spPr>
          <a:xfrm>
            <a:off x="198000" y="1908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uk-UA"/>
              <a:t>КОНТАКТИ</a:t>
            </a:r>
            <a:endParaRPr/>
          </a:p>
        </p:txBody>
      </p:sp>
      <p:pic>
        <p:nvPicPr>
          <p:cNvPr id="579" name="Google Shape;579;p48" title="Zoom call cover.png"/>
          <p:cNvPicPr preferRelativeResize="0"/>
          <p:nvPr/>
        </p:nvPicPr>
        <p:blipFill rotWithShape="1">
          <a:blip r:embed="rId3">
            <a:alphaModFix/>
          </a:blip>
          <a:srcRect b="0" l="40803" r="10197" t="0"/>
          <a:stretch/>
        </p:blipFill>
        <p:spPr>
          <a:xfrm>
            <a:off x="4663450" y="0"/>
            <a:ext cx="44805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48"/>
          <p:cNvSpPr txBox="1"/>
          <p:nvPr/>
        </p:nvSpPr>
        <p:spPr>
          <a:xfrm>
            <a:off x="2427757" y="4578100"/>
            <a:ext cx="204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uk-UA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o.gornostaieva@netpeak.net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uk-UA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@OlgaGornostaeva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8"/>
          <p:cNvSpPr txBox="1"/>
          <p:nvPr/>
        </p:nvSpPr>
        <p:spPr>
          <a:xfrm>
            <a:off x="1682500" y="4586750"/>
            <a:ext cx="74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uk-UA" sz="8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Пошта</a:t>
            </a:r>
            <a:endParaRPr b="1" i="0" sz="8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uk-UA" sz="8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Телеграм</a:t>
            </a:r>
            <a:endParaRPr b="0" i="0" sz="8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2" name="Google Shape;582;p48" title="photo_2025-07-18_09-26-14-removebg-preview.png"/>
          <p:cNvPicPr preferRelativeResize="0"/>
          <p:nvPr/>
        </p:nvPicPr>
        <p:blipFill rotWithShape="1">
          <a:blip r:embed="rId4">
            <a:alphaModFix/>
          </a:blip>
          <a:srcRect b="0" l="8110" r="8110" t="0"/>
          <a:stretch/>
        </p:blipFill>
        <p:spPr>
          <a:xfrm>
            <a:off x="192025" y="3397600"/>
            <a:ext cx="1298400" cy="15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8"/>
          <p:cNvSpPr txBox="1"/>
          <p:nvPr/>
        </p:nvSpPr>
        <p:spPr>
          <a:xfrm>
            <a:off x="1682488" y="3822513"/>
            <a:ext cx="20484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uk-U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Ольга Горностаєва</a:t>
            </a:r>
            <a:endParaRPr b="1" i="0" sz="141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812"/>
              <a:buFont typeface="Arial"/>
              <a:buNone/>
            </a:pPr>
            <a:r>
              <a:rPr b="1" i="0" lang="uk-UA" sz="812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Team Lead Digital Data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EAF0F4"/>
      </a:dk2>
      <a:lt2>
        <a:srgbClr val="EFEFEF"/>
      </a:lt2>
      <a:accent1>
        <a:srgbClr val="5BACEA"/>
      </a:accent1>
      <a:accent2>
        <a:srgbClr val="FF5223"/>
      </a:accent2>
      <a:accent3>
        <a:srgbClr val="666666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F3F3F3"/>
      </a:lt2>
      <a:accent1>
        <a:srgbClr val="5BACEA"/>
      </a:accent1>
      <a:accent2>
        <a:srgbClr val="FF5223"/>
      </a:accent2>
      <a:accent3>
        <a:srgbClr val="E3F3FF"/>
      </a:accent3>
      <a:accent4>
        <a:srgbClr val="5BACEA"/>
      </a:accent4>
      <a:accent5>
        <a:srgbClr val="5BACEA"/>
      </a:accent5>
      <a:accent6>
        <a:srgbClr val="5BAC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